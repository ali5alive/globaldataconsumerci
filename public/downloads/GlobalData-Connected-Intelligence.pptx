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Connected Intelligence for Consumer Brands. What you're about to see is a new way of working — one where the brands that win don't have more data — they have connected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under more pressure than ever. The board wants evidence — not intuition. Consumer trends are shifting faster than your planning cycles. And your data? It lives in seven different places. There has to be a better way. Sound familiar? Picture your typical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Monday morning and your inbox is already on fire. The board wants your plant-based protein position by Friday. Your trend provider says the category is peaking — but social listening says it's accelerating. Finance has two different TAM numbers. A rival just filed four patents and nobody on your team saw it coming. One opportunity. Seven teams. Seven answers. Which one do you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team is pulling from a different source — and every source tells them something different about the same opportunity. So your people spend sixty percent of their time not thinking — but reconciling. Ten percent on actual strategy. And twelve weeks to make a decision that should take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business cost — sixty-three million in revenue at risk across your portfolio this year. But there's a personal cost too. You're spending sixty percent of your time reconciling data instead of making decisions. Every board meeting, your credibility depends on numbers you're not fully confident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seeing that same opportunity through one connected lens. Five solutions — each best-in-class — working together for the first time. Sarah uses Strategic Intelligence. James gets one definitive sizing. Priya tracks every competitive move in real time. Marcus tests concepts against real evidence. Elena walks into every buyer meeting armed with the full story. David wraps it into one contract at thirty percent lower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should you launch plant-based snacking in Southeast Asia? Sarah pulls Strategic Intelligence — convergence score ninety-two. James sizes the opportunity: eight hundred and twenty million, growing at fourteen percent. Priya's competitive radar is flashing. Marcus runs five concepts — three pass. Elena walks into the Tesco meeting with everything. One platform. One meeting. One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your best people are data janitors. With Connected Intelligence, strategy time goes from ten percent to seventy-five percent. Decision velocity drops from six to eight weeks to hours. Your innovation hit rate doubles. Your teams spot opportunities months before competitors.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teams are stuck at Stage One — Fragmented. The gateway is Stage Two: Connected. One taxonomy. From there, AI surfaces cross-solution patterns — Stage Three, Optimised. At Stage Four — Predictive — AI anticipates market shifts before they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Leading global FMCG companies are already seeing this. Three times faster decisions. Seventy percent reduction in time to insight. Double the launch success rate. Thirty percent lower total cost of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 we just integrate what we already have? Fourteen separate contracts. Eighteen months becomes thirty-six. And you still don't have cross-pollination. Connected Intelligence: one taxonomy, one contract, ninety-day deployment — built on forty years of analyst-validated intelligence covering ninety-five percent of global GDP.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companies who've made this shift aren't just faster — they're winning categories they used to chase. Let's map your current intelligence landscape — where you are on the maturity curve, where the quick wins are. No commitment. Just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1097280"/>
            <a:ext cx="1645920" cy="1645920"/>
          </a:xfrm>
          <a:prstGeom prst="rect">
            <a:avLst/>
          </a:prstGeom>
        </p:spPr>
      </p:pic>
      <p:sp>
        <p:nvSpPr>
          <p:cNvPr id="3" name="Text 0"/>
          <p:cNvSpPr/>
          <p:nvPr/>
        </p:nvSpPr>
        <p:spPr>
          <a:xfrm>
            <a:off x="548640" y="2834640"/>
            <a:ext cx="4572000" cy="548640"/>
          </a:xfrm>
          <a:prstGeom prst="rect">
            <a:avLst/>
          </a:prstGeom>
          <a:noFill/>
          <a:ln/>
        </p:spPr>
        <p:txBody>
          <a:bodyPr wrap="square" rtlCol="0" anchor="ctr"/>
          <a:lstStyle/>
          <a:p>
            <a:pPr indent="0" marL="0">
              <a:buNone/>
            </a:pPr>
            <a:r>
              <a:rPr lang="en-US" sz="2800" b="1" dirty="0">
                <a:solidFill>
                  <a:srgbClr val="FFFFFF"/>
                </a:solidFill>
                <a:latin typeface="Poppins" pitchFamily="34" charset="0"/>
                <a:ea typeface="Poppins" pitchFamily="34" charset="-122"/>
                <a:cs typeface="Poppins" pitchFamily="34" charset="-120"/>
              </a:rPr>
              <a:t>GlobalData</a:t>
            </a:r>
            <a:endParaRPr lang="en-US" sz="2800" dirty="0"/>
          </a:p>
        </p:txBody>
      </p:sp>
      <p:sp>
        <p:nvSpPr>
          <p:cNvPr id="4" name="Text 1"/>
          <p:cNvSpPr/>
          <p:nvPr/>
        </p:nvSpPr>
        <p:spPr>
          <a:xfrm>
            <a:off x="548640" y="3383280"/>
            <a:ext cx="6400800" cy="914400"/>
          </a:xfrm>
          <a:prstGeom prst="rect">
            <a:avLst/>
          </a:prstGeom>
          <a:noFill/>
          <a:ln/>
        </p:spPr>
        <p:txBody>
          <a:bodyPr wrap="square" rtlCol="0" anchor="ctr"/>
          <a:lstStyle/>
          <a:p>
            <a:pPr indent="0" marL="0">
              <a:buNone/>
            </a:pPr>
            <a:r>
              <a:rPr lang="en-US" sz="2200" b="1" dirty="0">
                <a:solidFill>
                  <a:srgbClr val="293FE1"/>
                </a:solidFill>
                <a:latin typeface="Poppins" pitchFamily="34" charset="0"/>
                <a:ea typeface="Poppins" pitchFamily="34" charset="-122"/>
                <a:cs typeface="Poppins" pitchFamily="34" charset="-120"/>
              </a:rPr>
              <a:t>Connected Intelligence</a:t>
            </a:r>
            <a:endParaRPr lang="en-US" sz="2200" dirty="0"/>
          </a:p>
          <a:p>
            <a:pPr indent="0" marL="0">
              <a:buNone/>
            </a:pPr>
            <a:r>
              <a:rPr lang="en-US" sz="2200" b="1" dirty="0">
                <a:solidFill>
                  <a:srgbClr val="293FE1"/>
                </a:solidFill>
                <a:latin typeface="Poppins" pitchFamily="34" charset="0"/>
                <a:ea typeface="Poppins" pitchFamily="34" charset="-122"/>
                <a:cs typeface="Poppins" pitchFamily="34" charset="-120"/>
              </a:rPr>
              <a:t>for Consumer Brands</a:t>
            </a:r>
            <a:endParaRPr lang="en-US" sz="2200" dirty="0"/>
          </a:p>
        </p:txBody>
      </p:sp>
      <p:sp>
        <p:nvSpPr>
          <p:cNvPr id="5" name="Text 2"/>
          <p:cNvSpPr/>
          <p:nvPr/>
        </p:nvSpPr>
        <p:spPr>
          <a:xfrm>
            <a:off x="548640" y="4297680"/>
            <a:ext cx="6400800" cy="365760"/>
          </a:xfrm>
          <a:prstGeom prst="rect">
            <a:avLst/>
          </a:prstGeom>
          <a:noFill/>
          <a:ln/>
        </p:spPr>
        <p:txBody>
          <a:bodyPr wrap="square" rtlCol="0" anchor="ctr"/>
          <a:lstStyle/>
          <a:p>
            <a:pPr indent="0" marL="0">
              <a:buNone/>
            </a:pPr>
            <a:r>
              <a:rPr lang="en-US" sz="1100" i="1" dirty="0">
                <a:solidFill>
                  <a:srgbClr val="D1D5D8"/>
                </a:solidFill>
                <a:latin typeface="Poppins" pitchFamily="34" charset="0"/>
                <a:ea typeface="Poppins" pitchFamily="34" charset="-122"/>
                <a:cs typeface="Poppins" pitchFamily="34" charset="-120"/>
              </a:rPr>
              <a:t>Transforming how the world's leading brands make decisions</a:t>
            </a:r>
            <a:endParaRPr lang="en-US" sz="1100" dirty="0"/>
          </a:p>
        </p:txBody>
      </p:sp>
      <p:sp>
        <p:nvSpPr>
          <p:cNvPr id="6" name="Text 3"/>
          <p:cNvSpPr/>
          <p:nvPr/>
        </p:nvSpPr>
        <p:spPr>
          <a:xfrm>
            <a:off x="0" y="4709160"/>
            <a:ext cx="9144000" cy="320040"/>
          </a:xfrm>
          <a:prstGeom prst="rect">
            <a:avLst/>
          </a:prstGeom>
          <a:noFill/>
          <a:ln/>
        </p:spPr>
        <p:txBody>
          <a:bodyPr wrap="square" rtlCol="0" anchor="ctr"/>
          <a:lstStyle/>
          <a:p>
            <a:pPr algn="ctr" indent="0" marL="0">
              <a:buNone/>
            </a:pPr>
            <a:r>
              <a:rPr lang="en-US" sz="800" dirty="0">
                <a:solidFill>
                  <a:srgbClr val="676B75"/>
                </a:solidFill>
                <a:latin typeface="Poppins" pitchFamily="34" charset="0"/>
                <a:ea typeface="Poppins" pitchFamily="34" charset="-122"/>
                <a:cs typeface="Poppins" pitchFamily="34" charset="-120"/>
              </a:rPr>
              <a:t>globaldata.com</a:t>
            </a:r>
            <a:endParaRPr lang="en-US" sz="800" dirty="0"/>
          </a:p>
        </p:txBody>
      </p:sp>
      <p:sp>
        <p:nvSpPr>
          <p:cNvPr id="7" name="Text 4"/>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676B75"/>
                </a:solidFill>
                <a:latin typeface="Poppins" pitchFamily="34" charset="0"/>
                <a:ea typeface="Poppins" pitchFamily="34" charset="-122"/>
                <a:cs typeface="Poppins" pitchFamily="34" charset="-120"/>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502920" cy="502920"/>
          </a:xfrm>
          <a:prstGeom prst="rect">
            <a:avLst/>
          </a:prstGeom>
        </p:spPr>
      </p:pic>
      <p:sp>
        <p:nvSpPr>
          <p:cNvPr id="3"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242528"/>
                </a:solidFill>
                <a:latin typeface="Poppins" pitchFamily="34" charset="0"/>
                <a:ea typeface="Poppins" pitchFamily="34" charset="-122"/>
                <a:cs typeface="Poppins" pitchFamily="34" charset="-120"/>
              </a:rPr>
              <a:t>The Pressure You're Under</a:t>
            </a:r>
            <a:endParaRPr lang="en-US" sz="2800" dirty="0"/>
          </a:p>
        </p:txBody>
      </p:sp>
      <p:sp>
        <p:nvSpPr>
          <p:cNvPr id="4" name="Shape 1"/>
          <p:cNvSpPr/>
          <p:nvPr/>
        </p:nvSpPr>
        <p:spPr>
          <a:xfrm>
            <a:off x="548640" y="1005840"/>
            <a:ext cx="1097280" cy="36576"/>
          </a:xfrm>
          <a:prstGeom prst="rect">
            <a:avLst/>
          </a:prstGeom>
          <a:solidFill>
            <a:srgbClr val="293FE1"/>
          </a:solidFill>
          <a:ln/>
        </p:spPr>
      </p:sp>
      <p:sp>
        <p:nvSpPr>
          <p:cNvPr id="5" name="Shape 2"/>
          <p:cNvSpPr/>
          <p:nvPr/>
        </p:nvSpPr>
        <p:spPr>
          <a:xfrm>
            <a:off x="548640" y="1325880"/>
            <a:ext cx="8046720" cy="731520"/>
          </a:xfrm>
          <a:prstGeom prst="rect">
            <a:avLst>
              <a:gd name="adj" fmla="val 6250"/>
            </a:avLst>
          </a:prstGeom>
          <a:solidFill>
            <a:srgbClr val="F2F2F2"/>
          </a:solidFill>
          <a:ln/>
        </p:spPr>
      </p:sp>
      <p:sp>
        <p:nvSpPr>
          <p:cNvPr id="6" name="Shape 3"/>
          <p:cNvSpPr/>
          <p:nvPr/>
        </p:nvSpPr>
        <p:spPr>
          <a:xfrm>
            <a:off x="548640" y="1325880"/>
            <a:ext cx="54864" cy="731520"/>
          </a:xfrm>
          <a:prstGeom prst="rect">
            <a:avLst/>
          </a:prstGeom>
          <a:solidFill>
            <a:srgbClr val="293FE1"/>
          </a:solidFill>
          <a:ln/>
        </p:spPr>
      </p:sp>
      <p:sp>
        <p:nvSpPr>
          <p:cNvPr id="7" name="Text 4"/>
          <p:cNvSpPr/>
          <p:nvPr/>
        </p:nvSpPr>
        <p:spPr>
          <a:xfrm>
            <a:off x="777240" y="1371600"/>
            <a:ext cx="7315200" cy="274320"/>
          </a:xfrm>
          <a:prstGeom prst="rect">
            <a:avLst/>
          </a:prstGeom>
          <a:noFill/>
          <a:ln/>
        </p:spPr>
        <p:txBody>
          <a:bodyPr wrap="square" lIns="0" tIns="0" rIns="0" bIns="0" rtlCol="0" anchor="ctr"/>
          <a:lstStyle/>
          <a:p>
            <a:pPr indent="0" marL="0">
              <a:buNone/>
            </a:pPr>
            <a:r>
              <a:rPr lang="en-US" sz="1400" b="1" dirty="0">
                <a:solidFill>
                  <a:srgbClr val="242528"/>
                </a:solidFill>
                <a:latin typeface="Poppins" pitchFamily="34" charset="0"/>
                <a:ea typeface="Poppins" pitchFamily="34" charset="-122"/>
                <a:cs typeface="Poppins" pitchFamily="34" charset="-120"/>
              </a:rPr>
              <a:t>Evidence Over Intuition</a:t>
            </a:r>
            <a:endParaRPr lang="en-US" sz="1400" dirty="0"/>
          </a:p>
        </p:txBody>
      </p:sp>
      <p:sp>
        <p:nvSpPr>
          <p:cNvPr id="8" name="Text 5"/>
          <p:cNvSpPr/>
          <p:nvPr/>
        </p:nvSpPr>
        <p:spPr>
          <a:xfrm>
            <a:off x="777240" y="1673352"/>
            <a:ext cx="7315200" cy="320040"/>
          </a:xfrm>
          <a:prstGeom prst="rect">
            <a:avLst/>
          </a:prstGeom>
          <a:noFill/>
          <a:ln/>
        </p:spPr>
        <p:txBody>
          <a:bodyPr wrap="square" lIns="0" tIns="0" rIns="0" bIns="0" rtlCol="0" anchor="ctr"/>
          <a:lstStyle/>
          <a:p>
            <a:pPr indent="0" marL="0">
              <a:buNone/>
            </a:pPr>
            <a:r>
              <a:rPr lang="en-US" sz="1100" dirty="0">
                <a:solidFill>
                  <a:srgbClr val="676B75"/>
                </a:solidFill>
                <a:latin typeface="Poppins" pitchFamily="34" charset="0"/>
                <a:ea typeface="Poppins" pitchFamily="34" charset="-122"/>
                <a:cs typeface="Poppins" pitchFamily="34" charset="-120"/>
              </a:rPr>
              <a:t>The board demands data-backed decisions, not gut feel.</a:t>
            </a:r>
            <a:endParaRPr lang="en-US" sz="1100" dirty="0"/>
          </a:p>
        </p:txBody>
      </p:sp>
      <p:sp>
        <p:nvSpPr>
          <p:cNvPr id="9" name="Shape 6"/>
          <p:cNvSpPr/>
          <p:nvPr/>
        </p:nvSpPr>
        <p:spPr>
          <a:xfrm>
            <a:off x="548640" y="2194560"/>
            <a:ext cx="8046720" cy="731520"/>
          </a:xfrm>
          <a:prstGeom prst="rect">
            <a:avLst>
              <a:gd name="adj" fmla="val 6250"/>
            </a:avLst>
          </a:prstGeom>
          <a:solidFill>
            <a:srgbClr val="FFFFFF"/>
          </a:solidFill>
          <a:ln/>
        </p:spPr>
      </p:sp>
      <p:sp>
        <p:nvSpPr>
          <p:cNvPr id="10" name="Shape 7"/>
          <p:cNvSpPr/>
          <p:nvPr/>
        </p:nvSpPr>
        <p:spPr>
          <a:xfrm>
            <a:off x="548640" y="2194560"/>
            <a:ext cx="54864" cy="731520"/>
          </a:xfrm>
          <a:prstGeom prst="rect">
            <a:avLst/>
          </a:prstGeom>
          <a:solidFill>
            <a:srgbClr val="293FE1"/>
          </a:solidFill>
          <a:ln/>
        </p:spPr>
      </p:sp>
      <p:sp>
        <p:nvSpPr>
          <p:cNvPr id="11" name="Text 8"/>
          <p:cNvSpPr/>
          <p:nvPr/>
        </p:nvSpPr>
        <p:spPr>
          <a:xfrm>
            <a:off x="777240" y="2240280"/>
            <a:ext cx="7315200" cy="274320"/>
          </a:xfrm>
          <a:prstGeom prst="rect">
            <a:avLst/>
          </a:prstGeom>
          <a:noFill/>
          <a:ln/>
        </p:spPr>
        <p:txBody>
          <a:bodyPr wrap="square" lIns="0" tIns="0" rIns="0" bIns="0" rtlCol="0" anchor="ctr"/>
          <a:lstStyle/>
          <a:p>
            <a:pPr indent="0" marL="0">
              <a:buNone/>
            </a:pPr>
            <a:r>
              <a:rPr lang="en-US" sz="1400" b="1" dirty="0">
                <a:solidFill>
                  <a:srgbClr val="242528"/>
                </a:solidFill>
                <a:latin typeface="Poppins" pitchFamily="34" charset="0"/>
                <a:ea typeface="Poppins" pitchFamily="34" charset="-122"/>
                <a:cs typeface="Poppins" pitchFamily="34" charset="-120"/>
              </a:rPr>
              <a:t>Speed of Change</a:t>
            </a:r>
            <a:endParaRPr lang="en-US" sz="1400" dirty="0"/>
          </a:p>
        </p:txBody>
      </p:sp>
      <p:sp>
        <p:nvSpPr>
          <p:cNvPr id="12" name="Text 9"/>
          <p:cNvSpPr/>
          <p:nvPr/>
        </p:nvSpPr>
        <p:spPr>
          <a:xfrm>
            <a:off x="777240" y="2542032"/>
            <a:ext cx="7315200" cy="320040"/>
          </a:xfrm>
          <a:prstGeom prst="rect">
            <a:avLst/>
          </a:prstGeom>
          <a:noFill/>
          <a:ln/>
        </p:spPr>
        <p:txBody>
          <a:bodyPr wrap="square" lIns="0" tIns="0" rIns="0" bIns="0" rtlCol="0" anchor="ctr"/>
          <a:lstStyle/>
          <a:p>
            <a:pPr indent="0" marL="0">
              <a:buNone/>
            </a:pPr>
            <a:r>
              <a:rPr lang="en-US" sz="1100" dirty="0">
                <a:solidFill>
                  <a:srgbClr val="676B75"/>
                </a:solidFill>
                <a:latin typeface="Poppins" pitchFamily="34" charset="0"/>
                <a:ea typeface="Poppins" pitchFamily="34" charset="-122"/>
                <a:cs typeface="Poppins" pitchFamily="34" charset="-120"/>
              </a:rPr>
              <a:t>Consumer trends shift faster than your planning cycles can keep up.</a:t>
            </a:r>
            <a:endParaRPr lang="en-US" sz="1100" dirty="0"/>
          </a:p>
        </p:txBody>
      </p:sp>
      <p:sp>
        <p:nvSpPr>
          <p:cNvPr id="13" name="Shape 10"/>
          <p:cNvSpPr/>
          <p:nvPr/>
        </p:nvSpPr>
        <p:spPr>
          <a:xfrm>
            <a:off x="548640" y="3063240"/>
            <a:ext cx="8046720" cy="731520"/>
          </a:xfrm>
          <a:prstGeom prst="rect">
            <a:avLst>
              <a:gd name="adj" fmla="val 6250"/>
            </a:avLst>
          </a:prstGeom>
          <a:solidFill>
            <a:srgbClr val="F2F2F2"/>
          </a:solidFill>
          <a:ln/>
        </p:spPr>
      </p:sp>
      <p:sp>
        <p:nvSpPr>
          <p:cNvPr id="14" name="Shape 11"/>
          <p:cNvSpPr/>
          <p:nvPr/>
        </p:nvSpPr>
        <p:spPr>
          <a:xfrm>
            <a:off x="548640" y="3063240"/>
            <a:ext cx="54864" cy="731520"/>
          </a:xfrm>
          <a:prstGeom prst="rect">
            <a:avLst/>
          </a:prstGeom>
          <a:solidFill>
            <a:srgbClr val="293FE1"/>
          </a:solidFill>
          <a:ln/>
        </p:spPr>
      </p:sp>
      <p:sp>
        <p:nvSpPr>
          <p:cNvPr id="15" name="Text 12"/>
          <p:cNvSpPr/>
          <p:nvPr/>
        </p:nvSpPr>
        <p:spPr>
          <a:xfrm>
            <a:off x="777240" y="3108960"/>
            <a:ext cx="7315200" cy="274320"/>
          </a:xfrm>
          <a:prstGeom prst="rect">
            <a:avLst/>
          </a:prstGeom>
          <a:noFill/>
          <a:ln/>
        </p:spPr>
        <p:txBody>
          <a:bodyPr wrap="square" lIns="0" tIns="0" rIns="0" bIns="0" rtlCol="0" anchor="ctr"/>
          <a:lstStyle/>
          <a:p>
            <a:pPr indent="0" marL="0">
              <a:buNone/>
            </a:pPr>
            <a:r>
              <a:rPr lang="en-US" sz="1400" b="1" dirty="0">
                <a:solidFill>
                  <a:srgbClr val="242528"/>
                </a:solidFill>
                <a:latin typeface="Poppins" pitchFamily="34" charset="0"/>
                <a:ea typeface="Poppins" pitchFamily="34" charset="-122"/>
                <a:cs typeface="Poppins" pitchFamily="34" charset="-120"/>
              </a:rPr>
              <a:t>Fragmented Intelligence</a:t>
            </a:r>
            <a:endParaRPr lang="en-US" sz="1400" dirty="0"/>
          </a:p>
        </p:txBody>
      </p:sp>
      <p:sp>
        <p:nvSpPr>
          <p:cNvPr id="16" name="Text 13"/>
          <p:cNvSpPr/>
          <p:nvPr/>
        </p:nvSpPr>
        <p:spPr>
          <a:xfrm>
            <a:off x="777240" y="3410712"/>
            <a:ext cx="7315200" cy="320040"/>
          </a:xfrm>
          <a:prstGeom prst="rect">
            <a:avLst/>
          </a:prstGeom>
          <a:noFill/>
          <a:ln/>
        </p:spPr>
        <p:txBody>
          <a:bodyPr wrap="square" lIns="0" tIns="0" rIns="0" bIns="0" rtlCol="0" anchor="ctr"/>
          <a:lstStyle/>
          <a:p>
            <a:pPr indent="0" marL="0">
              <a:buNone/>
            </a:pPr>
            <a:r>
              <a:rPr lang="en-US" sz="1100" dirty="0">
                <a:solidFill>
                  <a:srgbClr val="676B75"/>
                </a:solidFill>
                <a:latin typeface="Poppins" pitchFamily="34" charset="0"/>
                <a:ea typeface="Poppins" pitchFamily="34" charset="-122"/>
                <a:cs typeface="Poppins" pitchFamily="34" charset="-120"/>
              </a:rPr>
              <a:t>Your data lives in seven different places. No single source of truth.</a:t>
            </a:r>
            <a:endParaRPr lang="en-US" sz="1100" dirty="0"/>
          </a:p>
        </p:txBody>
      </p:sp>
      <p:sp>
        <p:nvSpPr>
          <p:cNvPr id="17" name="Shape 14"/>
          <p:cNvSpPr/>
          <p:nvPr/>
        </p:nvSpPr>
        <p:spPr>
          <a:xfrm>
            <a:off x="548640" y="3931920"/>
            <a:ext cx="8046720" cy="731520"/>
          </a:xfrm>
          <a:prstGeom prst="rect">
            <a:avLst>
              <a:gd name="adj" fmla="val 6250"/>
            </a:avLst>
          </a:prstGeom>
          <a:solidFill>
            <a:srgbClr val="FFFFFF"/>
          </a:solidFill>
          <a:ln/>
        </p:spPr>
      </p:sp>
      <p:sp>
        <p:nvSpPr>
          <p:cNvPr id="18" name="Shape 15"/>
          <p:cNvSpPr/>
          <p:nvPr/>
        </p:nvSpPr>
        <p:spPr>
          <a:xfrm>
            <a:off x="548640" y="3931920"/>
            <a:ext cx="54864" cy="731520"/>
          </a:xfrm>
          <a:prstGeom prst="rect">
            <a:avLst/>
          </a:prstGeom>
          <a:solidFill>
            <a:srgbClr val="293FE1"/>
          </a:solidFill>
          <a:ln/>
        </p:spPr>
      </p:sp>
      <p:sp>
        <p:nvSpPr>
          <p:cNvPr id="19" name="Text 16"/>
          <p:cNvSpPr/>
          <p:nvPr/>
        </p:nvSpPr>
        <p:spPr>
          <a:xfrm>
            <a:off x="777240" y="3977640"/>
            <a:ext cx="7315200" cy="274320"/>
          </a:xfrm>
          <a:prstGeom prst="rect">
            <a:avLst/>
          </a:prstGeom>
          <a:noFill/>
          <a:ln/>
        </p:spPr>
        <p:txBody>
          <a:bodyPr wrap="square" lIns="0" tIns="0" rIns="0" bIns="0" rtlCol="0" anchor="ctr"/>
          <a:lstStyle/>
          <a:p>
            <a:pPr indent="0" marL="0">
              <a:buNone/>
            </a:pPr>
            <a:r>
              <a:rPr lang="en-US" sz="1400" b="1" dirty="0">
                <a:solidFill>
                  <a:srgbClr val="242528"/>
                </a:solidFill>
                <a:latin typeface="Poppins" pitchFamily="34" charset="0"/>
                <a:ea typeface="Poppins" pitchFamily="34" charset="-122"/>
                <a:cs typeface="Poppins" pitchFamily="34" charset="-120"/>
              </a:rPr>
              <a:t>Competitive Risk</a:t>
            </a:r>
            <a:endParaRPr lang="en-US" sz="1400" dirty="0"/>
          </a:p>
        </p:txBody>
      </p:sp>
      <p:sp>
        <p:nvSpPr>
          <p:cNvPr id="20" name="Text 17"/>
          <p:cNvSpPr/>
          <p:nvPr/>
        </p:nvSpPr>
        <p:spPr>
          <a:xfrm>
            <a:off x="777240" y="4279392"/>
            <a:ext cx="7315200" cy="320040"/>
          </a:xfrm>
          <a:prstGeom prst="rect">
            <a:avLst/>
          </a:prstGeom>
          <a:noFill/>
          <a:ln/>
        </p:spPr>
        <p:txBody>
          <a:bodyPr wrap="square" lIns="0" tIns="0" rIns="0" bIns="0" rtlCol="0" anchor="ctr"/>
          <a:lstStyle/>
          <a:p>
            <a:pPr indent="0" marL="0">
              <a:buNone/>
            </a:pPr>
            <a:r>
              <a:rPr lang="en-US" sz="1100" dirty="0">
                <a:solidFill>
                  <a:srgbClr val="676B75"/>
                </a:solidFill>
                <a:latin typeface="Poppins" pitchFamily="34" charset="0"/>
                <a:ea typeface="Poppins" pitchFamily="34" charset="-122"/>
                <a:cs typeface="Poppins" pitchFamily="34" charset="-120"/>
              </a:rPr>
              <a:t>While you reconcile, competitors act on the same signals — faster.</a:t>
            </a:r>
            <a:endParaRPr lang="en-US" sz="1100" dirty="0"/>
          </a:p>
        </p:txBody>
      </p:sp>
      <p:sp>
        <p:nvSpPr>
          <p:cNvPr id="21" name="Text 18"/>
          <p:cNvSpPr/>
          <p:nvPr/>
        </p:nvSpPr>
        <p:spPr>
          <a:xfrm>
            <a:off x="0" y="4709160"/>
            <a:ext cx="9144000" cy="320040"/>
          </a:xfrm>
          <a:prstGeom prst="rect">
            <a:avLst/>
          </a:prstGeom>
          <a:noFill/>
          <a:ln/>
        </p:spPr>
        <p:txBody>
          <a:bodyPr wrap="square" rtlCol="0" anchor="ctr"/>
          <a:lstStyle/>
          <a:p>
            <a:pPr algn="ctr" indent="0" marL="0">
              <a:buNone/>
            </a:pPr>
            <a:r>
              <a:rPr lang="en-US" sz="800" dirty="0">
                <a:solidFill>
                  <a:srgbClr val="676B75"/>
                </a:solidFill>
                <a:latin typeface="Poppins" pitchFamily="34" charset="0"/>
                <a:ea typeface="Poppins" pitchFamily="34" charset="-122"/>
                <a:cs typeface="Poppins" pitchFamily="34" charset="-120"/>
              </a:rPr>
              <a:t>globaldata.com</a:t>
            </a:r>
            <a:endParaRPr lang="en-US" sz="800" dirty="0"/>
          </a:p>
        </p:txBody>
      </p:sp>
      <p:sp>
        <p:nvSpPr>
          <p:cNvPr id="22" name="Text 19"/>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676B75"/>
                </a:solidFill>
                <a:latin typeface="Poppins" pitchFamily="34" charset="0"/>
                <a:ea typeface="Poppins" pitchFamily="34" charset="-122"/>
                <a:cs typeface="Poppins"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502920" cy="502920"/>
          </a:xfrm>
          <a:prstGeom prst="rect">
            <a:avLst/>
          </a:prstGeom>
        </p:spPr>
      </p:pic>
      <p:sp>
        <p:nvSpPr>
          <p:cNvPr id="3"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242528"/>
                </a:solidFill>
                <a:latin typeface="Poppins" pitchFamily="34" charset="0"/>
                <a:ea typeface="Poppins" pitchFamily="34" charset="-122"/>
                <a:cs typeface="Poppins" pitchFamily="34" charset="-120"/>
              </a:rPr>
              <a:t>Your Monday Morning</a:t>
            </a:r>
            <a:endParaRPr lang="en-US" sz="2800" dirty="0"/>
          </a:p>
        </p:txBody>
      </p:sp>
      <p:sp>
        <p:nvSpPr>
          <p:cNvPr id="4" name="Shape 1"/>
          <p:cNvSpPr/>
          <p:nvPr/>
        </p:nvSpPr>
        <p:spPr>
          <a:xfrm>
            <a:off x="548640" y="1005840"/>
            <a:ext cx="1097280" cy="36576"/>
          </a:xfrm>
          <a:prstGeom prst="rect">
            <a:avLst/>
          </a:prstGeom>
          <a:solidFill>
            <a:srgbClr val="293FE1"/>
          </a:solidFill>
          <a:ln/>
        </p:spPr>
      </p:sp>
      <p:sp>
        <p:nvSpPr>
          <p:cNvPr id="5" name="Text 2"/>
          <p:cNvSpPr/>
          <p:nvPr/>
        </p:nvSpPr>
        <p:spPr>
          <a:xfrm>
            <a:off x="548640" y="1280160"/>
            <a:ext cx="7772400" cy="365760"/>
          </a:xfrm>
          <a:prstGeom prst="rect">
            <a:avLst/>
          </a:prstGeom>
          <a:noFill/>
          <a:ln/>
        </p:spPr>
        <p:txBody>
          <a:bodyPr wrap="square" rtlCol="0" anchor="ctr"/>
          <a:lstStyle/>
          <a:p>
            <a:pPr indent="0" marL="0">
              <a:buNone/>
            </a:pPr>
            <a:r>
              <a:rPr lang="en-US" sz="1300" i="1" dirty="0">
                <a:solidFill>
                  <a:srgbClr val="242528"/>
                </a:solidFill>
                <a:latin typeface="Poppins" pitchFamily="34" charset="0"/>
                <a:ea typeface="Poppins" pitchFamily="34" charset="-122"/>
                <a:cs typeface="Poppins" pitchFamily="34" charset="-120"/>
              </a:rPr>
              <a:t>The board wants your plant-based protein position by Friday.</a:t>
            </a:r>
            <a:endParaRPr lang="en-US" sz="1300" dirty="0"/>
          </a:p>
        </p:txBody>
      </p:sp>
      <p:sp>
        <p:nvSpPr>
          <p:cNvPr id="6" name="Text 3"/>
          <p:cNvSpPr/>
          <p:nvPr/>
        </p:nvSpPr>
        <p:spPr>
          <a:xfrm>
            <a:off x="548640" y="1828800"/>
            <a:ext cx="5029200" cy="2743200"/>
          </a:xfrm>
          <a:prstGeom prst="rect">
            <a:avLst/>
          </a:prstGeom>
          <a:noFill/>
          <a:ln/>
        </p:spPr>
        <p:txBody>
          <a:bodyPr wrap="square" rtlCol="0" anchor="ctr"/>
          <a:lstStyle/>
          <a:p>
            <a:pPr marL="342900" indent="-342900">
              <a:spcAft>
                <a:spcPts val="600"/>
              </a:spcAft>
              <a:buSzPct val="100000"/>
              <a:buChar char="•"/>
            </a:pPr>
            <a:r>
              <a:rPr lang="en-US" sz="1100" dirty="0">
                <a:solidFill>
                  <a:srgbClr val="242528"/>
                </a:solidFill>
                <a:latin typeface="Poppins" pitchFamily="34" charset="0"/>
                <a:ea typeface="Poppins" pitchFamily="34" charset="-122"/>
                <a:cs typeface="Poppins" pitchFamily="34" charset="-120"/>
              </a:rPr>
              <a:t>Trend provider says the category is peaking</a:t>
            </a:r>
            <a:endParaRPr lang="en-US" sz="1100" dirty="0"/>
          </a:p>
          <a:p>
            <a:pPr marL="342900" indent="-342900">
              <a:spcAft>
                <a:spcPts val="600"/>
              </a:spcAft>
              <a:buSzPct val="100000"/>
              <a:buChar char="•"/>
            </a:pPr>
            <a:r>
              <a:rPr lang="en-US" sz="1100" dirty="0">
                <a:solidFill>
                  <a:srgbClr val="242528"/>
                </a:solidFill>
                <a:latin typeface="Poppins" pitchFamily="34" charset="0"/>
                <a:ea typeface="Poppins" pitchFamily="34" charset="-122"/>
                <a:cs typeface="Poppins" pitchFamily="34" charset="-120"/>
              </a:rPr>
              <a:t>Social listening says it's accelerating</a:t>
            </a:r>
            <a:endParaRPr lang="en-US" sz="1100" dirty="0"/>
          </a:p>
          <a:p>
            <a:pPr marL="342900" indent="-342900">
              <a:spcAft>
                <a:spcPts val="600"/>
              </a:spcAft>
              <a:buSzPct val="100000"/>
              <a:buChar char="•"/>
            </a:pPr>
            <a:r>
              <a:rPr lang="en-US" sz="1100" dirty="0">
                <a:solidFill>
                  <a:srgbClr val="242528"/>
                </a:solidFill>
                <a:latin typeface="Poppins" pitchFamily="34" charset="0"/>
                <a:ea typeface="Poppins" pitchFamily="34" charset="-122"/>
                <a:cs typeface="Poppins" pitchFamily="34" charset="-120"/>
              </a:rPr>
              <a:t>Finance has two different TAM numbers</a:t>
            </a:r>
            <a:endParaRPr lang="en-US" sz="1100" dirty="0"/>
          </a:p>
          <a:p>
            <a:pPr marL="342900" indent="-342900">
              <a:spcAft>
                <a:spcPts val="600"/>
              </a:spcAft>
              <a:buSzPct val="100000"/>
              <a:buChar char="•"/>
            </a:pPr>
            <a:r>
              <a:rPr lang="en-US" sz="1100" dirty="0">
                <a:solidFill>
                  <a:srgbClr val="242528"/>
                </a:solidFill>
                <a:latin typeface="Poppins" pitchFamily="34" charset="0"/>
                <a:ea typeface="Poppins" pitchFamily="34" charset="-122"/>
                <a:cs typeface="Poppins" pitchFamily="34" charset="-120"/>
              </a:rPr>
              <a:t>A rival just filed four patents — nobody saw it</a:t>
            </a:r>
            <a:endParaRPr lang="en-US" sz="1100" dirty="0"/>
          </a:p>
          <a:p>
            <a:pPr marL="342900" indent="-342900">
              <a:spcAft>
                <a:spcPts val="600"/>
              </a:spcAft>
              <a:buSzPct val="100000"/>
              <a:buChar char="•"/>
            </a:pPr>
            <a:r>
              <a:rPr lang="en-US" sz="1100" dirty="0">
                <a:solidFill>
                  <a:srgbClr val="242528"/>
                </a:solidFill>
                <a:latin typeface="Poppins" pitchFamily="34" charset="0"/>
                <a:ea typeface="Poppins" pitchFamily="34" charset="-122"/>
                <a:cs typeface="Poppins" pitchFamily="34" charset="-120"/>
              </a:rPr>
              <a:t>Marketing wants consumer sentiment data by Wednesday</a:t>
            </a:r>
            <a:endParaRPr lang="en-US" sz="1100" dirty="0"/>
          </a:p>
          <a:p>
            <a:pPr marL="342900" indent="-342900">
              <a:spcAft>
                <a:spcPts val="600"/>
              </a:spcAft>
              <a:buSzPct val="100000"/>
              <a:buChar char="•"/>
            </a:pPr>
            <a:r>
              <a:rPr lang="en-US" sz="1100" dirty="0">
                <a:solidFill>
                  <a:srgbClr val="242528"/>
                </a:solidFill>
                <a:latin typeface="Poppins" pitchFamily="34" charset="0"/>
                <a:ea typeface="Poppins" pitchFamily="34" charset="-122"/>
                <a:cs typeface="Poppins" pitchFamily="34" charset="-120"/>
              </a:rPr>
              <a:t>Innovation team needs concept validation</a:t>
            </a:r>
            <a:endParaRPr lang="en-US" sz="1100" dirty="0"/>
          </a:p>
          <a:p>
            <a:pPr marL="342900" indent="-342900">
              <a:spcAft>
                <a:spcPts val="600"/>
              </a:spcAft>
              <a:buSzPct val="100000"/>
              <a:buChar char="•"/>
            </a:pPr>
            <a:r>
              <a:rPr lang="en-US" sz="1100" dirty="0">
                <a:solidFill>
                  <a:srgbClr val="242528"/>
                </a:solidFill>
                <a:latin typeface="Poppins" pitchFamily="34" charset="0"/>
                <a:ea typeface="Poppins" pitchFamily="34" charset="-122"/>
                <a:cs typeface="Poppins" pitchFamily="34" charset="-120"/>
              </a:rPr>
              <a:t>Procurement reviewing three overlapping contracts</a:t>
            </a:r>
            <a:endParaRPr lang="en-US" sz="1100" dirty="0"/>
          </a:p>
        </p:txBody>
      </p:sp>
      <p:sp>
        <p:nvSpPr>
          <p:cNvPr id="7" name="Shape 4"/>
          <p:cNvSpPr/>
          <p:nvPr/>
        </p:nvSpPr>
        <p:spPr>
          <a:xfrm>
            <a:off x="5943600" y="1828800"/>
            <a:ext cx="2926080" cy="2194560"/>
          </a:xfrm>
          <a:prstGeom prst="rect">
            <a:avLst/>
          </a:prstGeom>
          <a:solidFill>
            <a:srgbClr val="1F2432"/>
          </a:solidFill>
          <a:ln/>
        </p:spPr>
      </p:sp>
      <p:sp>
        <p:nvSpPr>
          <p:cNvPr id="8" name="Text 5"/>
          <p:cNvSpPr/>
          <p:nvPr/>
        </p:nvSpPr>
        <p:spPr>
          <a:xfrm>
            <a:off x="6126480" y="1965960"/>
            <a:ext cx="2560320" cy="1097280"/>
          </a:xfrm>
          <a:prstGeom prst="rect">
            <a:avLst/>
          </a:prstGeom>
          <a:noFill/>
          <a:ln/>
        </p:spPr>
        <p:txBody>
          <a:bodyPr wrap="square" rtlCol="0" anchor="ctr"/>
          <a:lstStyle/>
          <a:p>
            <a:pPr indent="0" marL="0">
              <a:buNone/>
            </a:pPr>
            <a:r>
              <a:rPr lang="en-US" sz="1800" b="1" dirty="0">
                <a:solidFill>
                  <a:srgbClr val="FFFFFF"/>
                </a:solidFill>
                <a:latin typeface="Poppins" pitchFamily="34" charset="0"/>
                <a:ea typeface="Poppins" pitchFamily="34" charset="-122"/>
                <a:cs typeface="Poppins" pitchFamily="34" charset="-120"/>
              </a:rPr>
              <a:t>One opportunity.</a:t>
            </a:r>
            <a:endParaRPr lang="en-US" sz="1800" dirty="0"/>
          </a:p>
          <a:p>
            <a:pPr indent="0" marL="0">
              <a:buNone/>
            </a:pPr>
            <a:r>
              <a:rPr lang="en-US" sz="1800" b="1" dirty="0">
                <a:solidFill>
                  <a:srgbClr val="FFFFFF"/>
                </a:solidFill>
                <a:latin typeface="Poppins" pitchFamily="34" charset="0"/>
                <a:ea typeface="Poppins" pitchFamily="34" charset="-122"/>
                <a:cs typeface="Poppins" pitchFamily="34" charset="-120"/>
              </a:rPr>
              <a:t>Seven teams.</a:t>
            </a:r>
            <a:endParaRPr lang="en-US" sz="1800" dirty="0"/>
          </a:p>
          <a:p>
            <a:pPr indent="0" marL="0">
              <a:buNone/>
            </a:pPr>
            <a:r>
              <a:rPr lang="en-US" sz="1800" b="1" dirty="0">
                <a:solidFill>
                  <a:srgbClr val="FFFFFF"/>
                </a:solidFill>
                <a:latin typeface="Poppins" pitchFamily="34" charset="0"/>
                <a:ea typeface="Poppins" pitchFamily="34" charset="-122"/>
                <a:cs typeface="Poppins" pitchFamily="34" charset="-120"/>
              </a:rPr>
              <a:t>Seven answers.</a:t>
            </a:r>
            <a:endParaRPr lang="en-US" sz="1800" dirty="0"/>
          </a:p>
        </p:txBody>
      </p:sp>
      <p:sp>
        <p:nvSpPr>
          <p:cNvPr id="9" name="Text 6"/>
          <p:cNvSpPr/>
          <p:nvPr/>
        </p:nvSpPr>
        <p:spPr>
          <a:xfrm>
            <a:off x="6126480" y="3108960"/>
            <a:ext cx="2560320" cy="457200"/>
          </a:xfrm>
          <a:prstGeom prst="rect">
            <a:avLst/>
          </a:prstGeom>
          <a:noFill/>
          <a:ln/>
        </p:spPr>
        <p:txBody>
          <a:bodyPr wrap="square" rtlCol="0" anchor="ctr"/>
          <a:lstStyle/>
          <a:p>
            <a:pPr indent="0" marL="0">
              <a:buNone/>
            </a:pPr>
            <a:r>
              <a:rPr lang="en-US" sz="1200" i="1" dirty="0">
                <a:solidFill>
                  <a:srgbClr val="293FE1"/>
                </a:solidFill>
                <a:latin typeface="Poppins" pitchFamily="34" charset="0"/>
                <a:ea typeface="Poppins" pitchFamily="34" charset="-122"/>
                <a:cs typeface="Poppins" pitchFamily="34" charset="-120"/>
              </a:rPr>
              <a:t>Which one do you trust?</a:t>
            </a:r>
            <a:endParaRPr lang="en-US" sz="1200" dirty="0"/>
          </a:p>
        </p:txBody>
      </p:sp>
      <p:sp>
        <p:nvSpPr>
          <p:cNvPr id="10" name="Text 7"/>
          <p:cNvSpPr/>
          <p:nvPr/>
        </p:nvSpPr>
        <p:spPr>
          <a:xfrm>
            <a:off x="0" y="4709160"/>
            <a:ext cx="9144000" cy="320040"/>
          </a:xfrm>
          <a:prstGeom prst="rect">
            <a:avLst/>
          </a:prstGeom>
          <a:noFill/>
          <a:ln/>
        </p:spPr>
        <p:txBody>
          <a:bodyPr wrap="square" rtlCol="0" anchor="ctr"/>
          <a:lstStyle/>
          <a:p>
            <a:pPr algn="ctr" indent="0" marL="0">
              <a:buNone/>
            </a:pPr>
            <a:r>
              <a:rPr lang="en-US" sz="800" dirty="0">
                <a:solidFill>
                  <a:srgbClr val="676B75"/>
                </a:solidFill>
                <a:latin typeface="Poppins" pitchFamily="34" charset="0"/>
                <a:ea typeface="Poppins" pitchFamily="34" charset="-122"/>
                <a:cs typeface="Poppins" pitchFamily="34" charset="-120"/>
              </a:rPr>
              <a:t>globaldata.com</a:t>
            </a:r>
            <a:endParaRPr lang="en-US" sz="800" dirty="0"/>
          </a:p>
        </p:txBody>
      </p:sp>
      <p:sp>
        <p:nvSpPr>
          <p:cNvPr id="11" name="Text 8"/>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676B75"/>
                </a:solidFill>
                <a:latin typeface="Poppins" pitchFamily="34" charset="0"/>
                <a:ea typeface="Poppins" pitchFamily="34" charset="-122"/>
                <a:cs typeface="Poppins"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24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502920" cy="502920"/>
          </a:xfrm>
          <a:prstGeom prst="rect">
            <a:avLst/>
          </a:prstGeom>
        </p:spPr>
      </p:pic>
      <p:sp>
        <p:nvSpPr>
          <p:cNvPr id="3"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FFFFFF"/>
                </a:solidFill>
                <a:latin typeface="Poppins" pitchFamily="34" charset="0"/>
                <a:ea typeface="Poppins" pitchFamily="34" charset="-122"/>
                <a:cs typeface="Poppins" pitchFamily="34" charset="-120"/>
              </a:rPr>
              <a:t>Seven Sources, Seven Signals</a:t>
            </a:r>
            <a:endParaRPr lang="en-US" sz="2800" dirty="0"/>
          </a:p>
        </p:txBody>
      </p:sp>
      <p:sp>
        <p:nvSpPr>
          <p:cNvPr id="4" name="Shape 1"/>
          <p:cNvSpPr/>
          <p:nvPr/>
        </p:nvSpPr>
        <p:spPr>
          <a:xfrm>
            <a:off x="548640" y="1005840"/>
            <a:ext cx="1097280" cy="36576"/>
          </a:xfrm>
          <a:prstGeom prst="rect">
            <a:avLst/>
          </a:prstGeom>
          <a:solidFill>
            <a:srgbClr val="293FE1"/>
          </a:solidFill>
          <a:ln/>
        </p:spPr>
      </p:sp>
      <p:sp>
        <p:nvSpPr>
          <p:cNvPr id="5" name="Text 2"/>
          <p:cNvSpPr/>
          <p:nvPr/>
        </p:nvSpPr>
        <p:spPr>
          <a:xfrm>
            <a:off x="548640" y="1234440"/>
            <a:ext cx="7315200" cy="548640"/>
          </a:xfrm>
          <a:prstGeom prst="rect">
            <a:avLst/>
          </a:prstGeom>
          <a:noFill/>
          <a:ln/>
        </p:spPr>
        <p:txBody>
          <a:bodyPr wrap="square" rtlCol="0" anchor="ctr"/>
          <a:lstStyle/>
          <a:p>
            <a:pPr indent="0" marL="0">
              <a:buNone/>
            </a:pPr>
            <a:r>
              <a:rPr lang="en-US" sz="1300" dirty="0">
                <a:solidFill>
                  <a:srgbClr val="D1D5D8"/>
                </a:solidFill>
                <a:latin typeface="Poppins" pitchFamily="34" charset="0"/>
                <a:ea typeface="Poppins" pitchFamily="34" charset="-122"/>
                <a:cs typeface="Poppins" pitchFamily="34" charset="-120"/>
              </a:rPr>
              <a:t>Every team pulls from a different source.</a:t>
            </a:r>
            <a:endParaRPr lang="en-US" sz="1300" dirty="0"/>
          </a:p>
          <a:p>
            <a:pPr indent="0" marL="0">
              <a:buNone/>
            </a:pPr>
            <a:r>
              <a:rPr lang="en-US" sz="1300" dirty="0">
                <a:solidFill>
                  <a:srgbClr val="D1D5D8"/>
                </a:solidFill>
                <a:latin typeface="Poppins" pitchFamily="34" charset="0"/>
                <a:ea typeface="Poppins" pitchFamily="34" charset="-122"/>
                <a:cs typeface="Poppins" pitchFamily="34" charset="-120"/>
              </a:rPr>
              <a:t>Every source tells a different story.</a:t>
            </a:r>
            <a:endParaRPr lang="en-US" sz="1300" dirty="0"/>
          </a:p>
        </p:txBody>
      </p:sp>
      <p:sp>
        <p:nvSpPr>
          <p:cNvPr id="6" name="Shape 3"/>
          <p:cNvSpPr/>
          <p:nvPr/>
        </p:nvSpPr>
        <p:spPr>
          <a:xfrm>
            <a:off x="548640" y="2103120"/>
            <a:ext cx="2560320" cy="2194560"/>
          </a:xfrm>
          <a:prstGeom prst="rect">
            <a:avLst/>
          </a:prstGeom>
          <a:solidFill>
            <a:srgbClr val="2A3145"/>
          </a:solidFill>
          <a:ln/>
        </p:spPr>
      </p:sp>
      <p:sp>
        <p:nvSpPr>
          <p:cNvPr id="7" name="Text 4"/>
          <p:cNvSpPr/>
          <p:nvPr/>
        </p:nvSpPr>
        <p:spPr>
          <a:xfrm>
            <a:off x="548640" y="2286000"/>
            <a:ext cx="2560320" cy="731520"/>
          </a:xfrm>
          <a:prstGeom prst="rect">
            <a:avLst/>
          </a:prstGeom>
          <a:noFill/>
          <a:ln/>
        </p:spPr>
        <p:txBody>
          <a:bodyPr wrap="square" rtlCol="0" anchor="ctr"/>
          <a:lstStyle/>
          <a:p>
            <a:pPr algn="ctr" indent="0" marL="0">
              <a:buNone/>
            </a:pPr>
            <a:r>
              <a:rPr lang="en-US" sz="4000" b="1" dirty="0">
                <a:solidFill>
                  <a:srgbClr val="293FE1"/>
                </a:solidFill>
                <a:latin typeface="Poppins" pitchFamily="34" charset="0"/>
                <a:ea typeface="Poppins" pitchFamily="34" charset="-122"/>
                <a:cs typeface="Poppins" pitchFamily="34" charset="-120"/>
              </a:rPr>
              <a:t>60%</a:t>
            </a:r>
            <a:endParaRPr lang="en-US" sz="4000" dirty="0"/>
          </a:p>
        </p:txBody>
      </p:sp>
      <p:sp>
        <p:nvSpPr>
          <p:cNvPr id="8" name="Text 5"/>
          <p:cNvSpPr/>
          <p:nvPr/>
        </p:nvSpPr>
        <p:spPr>
          <a:xfrm>
            <a:off x="548640" y="3200400"/>
            <a:ext cx="2560320" cy="731520"/>
          </a:xfrm>
          <a:prstGeom prst="rect">
            <a:avLst/>
          </a:prstGeom>
          <a:noFill/>
          <a:ln/>
        </p:spPr>
        <p:txBody>
          <a:bodyPr wrap="square" rtlCol="0" anchor="ctr"/>
          <a:lstStyle/>
          <a:p>
            <a:pPr algn="ctr" indent="0" marL="0">
              <a:buNone/>
            </a:pPr>
            <a:r>
              <a:rPr lang="en-US" sz="1200" dirty="0">
                <a:solidFill>
                  <a:srgbClr val="D1D5D8"/>
                </a:solidFill>
                <a:latin typeface="Poppins" pitchFamily="34" charset="0"/>
                <a:ea typeface="Poppins" pitchFamily="34" charset="-122"/>
                <a:cs typeface="Poppins" pitchFamily="34" charset="-120"/>
              </a:rPr>
              <a:t>of time spent</a:t>
            </a:r>
            <a:endParaRPr lang="en-US" sz="1200" dirty="0"/>
          </a:p>
          <a:p>
            <a:pPr algn="ctr" indent="0" marL="0">
              <a:buNone/>
            </a:pPr>
            <a:r>
              <a:rPr lang="en-US" sz="1200" dirty="0">
                <a:solidFill>
                  <a:srgbClr val="D1D5D8"/>
                </a:solidFill>
                <a:latin typeface="Poppins" pitchFamily="34" charset="0"/>
                <a:ea typeface="Poppins" pitchFamily="34" charset="-122"/>
                <a:cs typeface="Poppins" pitchFamily="34" charset="-120"/>
              </a:rPr>
              <a:t>reconciling data</a:t>
            </a:r>
            <a:endParaRPr lang="en-US" sz="1200" dirty="0"/>
          </a:p>
        </p:txBody>
      </p:sp>
      <p:sp>
        <p:nvSpPr>
          <p:cNvPr id="9" name="Shape 6"/>
          <p:cNvSpPr/>
          <p:nvPr/>
        </p:nvSpPr>
        <p:spPr>
          <a:xfrm>
            <a:off x="3383280" y="2103120"/>
            <a:ext cx="2560320" cy="2194560"/>
          </a:xfrm>
          <a:prstGeom prst="rect">
            <a:avLst/>
          </a:prstGeom>
          <a:solidFill>
            <a:srgbClr val="2A3145"/>
          </a:solidFill>
          <a:ln/>
        </p:spPr>
      </p:sp>
      <p:sp>
        <p:nvSpPr>
          <p:cNvPr id="10" name="Text 7"/>
          <p:cNvSpPr/>
          <p:nvPr/>
        </p:nvSpPr>
        <p:spPr>
          <a:xfrm>
            <a:off x="3383280" y="2286000"/>
            <a:ext cx="2560320" cy="731520"/>
          </a:xfrm>
          <a:prstGeom prst="rect">
            <a:avLst/>
          </a:prstGeom>
          <a:noFill/>
          <a:ln/>
        </p:spPr>
        <p:txBody>
          <a:bodyPr wrap="square" rtlCol="0" anchor="ctr"/>
          <a:lstStyle/>
          <a:p>
            <a:pPr algn="ctr" indent="0" marL="0">
              <a:buNone/>
            </a:pPr>
            <a:r>
              <a:rPr lang="en-US" sz="4000" b="1" dirty="0">
                <a:solidFill>
                  <a:srgbClr val="293FE1"/>
                </a:solidFill>
                <a:latin typeface="Poppins" pitchFamily="34" charset="0"/>
                <a:ea typeface="Poppins" pitchFamily="34" charset="-122"/>
                <a:cs typeface="Poppins" pitchFamily="34" charset="-120"/>
              </a:rPr>
              <a:t>10%</a:t>
            </a:r>
            <a:endParaRPr lang="en-US" sz="4000" dirty="0"/>
          </a:p>
        </p:txBody>
      </p:sp>
      <p:sp>
        <p:nvSpPr>
          <p:cNvPr id="11" name="Text 8"/>
          <p:cNvSpPr/>
          <p:nvPr/>
        </p:nvSpPr>
        <p:spPr>
          <a:xfrm>
            <a:off x="3383280" y="3200400"/>
            <a:ext cx="2560320" cy="731520"/>
          </a:xfrm>
          <a:prstGeom prst="rect">
            <a:avLst/>
          </a:prstGeom>
          <a:noFill/>
          <a:ln/>
        </p:spPr>
        <p:txBody>
          <a:bodyPr wrap="square" rtlCol="0" anchor="ctr"/>
          <a:lstStyle/>
          <a:p>
            <a:pPr algn="ctr" indent="0" marL="0">
              <a:buNone/>
            </a:pPr>
            <a:r>
              <a:rPr lang="en-US" sz="1200" dirty="0">
                <a:solidFill>
                  <a:srgbClr val="D1D5D8"/>
                </a:solidFill>
                <a:latin typeface="Poppins" pitchFamily="34" charset="0"/>
                <a:ea typeface="Poppins" pitchFamily="34" charset="-122"/>
                <a:cs typeface="Poppins" pitchFamily="34" charset="-120"/>
              </a:rPr>
              <a:t>of time on</a:t>
            </a:r>
            <a:endParaRPr lang="en-US" sz="1200" dirty="0"/>
          </a:p>
          <a:p>
            <a:pPr algn="ctr" indent="0" marL="0">
              <a:buNone/>
            </a:pPr>
            <a:r>
              <a:rPr lang="en-US" sz="1200" dirty="0">
                <a:solidFill>
                  <a:srgbClr val="D1D5D8"/>
                </a:solidFill>
                <a:latin typeface="Poppins" pitchFamily="34" charset="0"/>
                <a:ea typeface="Poppins" pitchFamily="34" charset="-122"/>
                <a:cs typeface="Poppins" pitchFamily="34" charset="-120"/>
              </a:rPr>
              <a:t>actual strategy</a:t>
            </a:r>
            <a:endParaRPr lang="en-US" sz="1200" dirty="0"/>
          </a:p>
        </p:txBody>
      </p:sp>
      <p:sp>
        <p:nvSpPr>
          <p:cNvPr id="12" name="Shape 9"/>
          <p:cNvSpPr/>
          <p:nvPr/>
        </p:nvSpPr>
        <p:spPr>
          <a:xfrm>
            <a:off x="6217920" y="2103120"/>
            <a:ext cx="2560320" cy="2194560"/>
          </a:xfrm>
          <a:prstGeom prst="rect">
            <a:avLst/>
          </a:prstGeom>
          <a:solidFill>
            <a:srgbClr val="2A3145"/>
          </a:solidFill>
          <a:ln/>
        </p:spPr>
      </p:sp>
      <p:sp>
        <p:nvSpPr>
          <p:cNvPr id="13" name="Text 10"/>
          <p:cNvSpPr/>
          <p:nvPr/>
        </p:nvSpPr>
        <p:spPr>
          <a:xfrm>
            <a:off x="6217920" y="2286000"/>
            <a:ext cx="2560320" cy="731520"/>
          </a:xfrm>
          <a:prstGeom prst="rect">
            <a:avLst/>
          </a:prstGeom>
          <a:noFill/>
          <a:ln/>
        </p:spPr>
        <p:txBody>
          <a:bodyPr wrap="square" rtlCol="0" anchor="ctr"/>
          <a:lstStyle/>
          <a:p>
            <a:pPr algn="ctr" indent="0" marL="0">
              <a:buNone/>
            </a:pPr>
            <a:r>
              <a:rPr lang="en-US" sz="4000" b="1" dirty="0">
                <a:solidFill>
                  <a:srgbClr val="293FE1"/>
                </a:solidFill>
                <a:latin typeface="Poppins" pitchFamily="34" charset="0"/>
                <a:ea typeface="Poppins" pitchFamily="34" charset="-122"/>
                <a:cs typeface="Poppins" pitchFamily="34" charset="-120"/>
              </a:rPr>
              <a:t>12 weeks</a:t>
            </a:r>
            <a:endParaRPr lang="en-US" sz="4000" dirty="0"/>
          </a:p>
        </p:txBody>
      </p:sp>
      <p:sp>
        <p:nvSpPr>
          <p:cNvPr id="14" name="Text 11"/>
          <p:cNvSpPr/>
          <p:nvPr/>
        </p:nvSpPr>
        <p:spPr>
          <a:xfrm>
            <a:off x="6217920" y="3200400"/>
            <a:ext cx="2560320" cy="731520"/>
          </a:xfrm>
          <a:prstGeom prst="rect">
            <a:avLst/>
          </a:prstGeom>
          <a:noFill/>
          <a:ln/>
        </p:spPr>
        <p:txBody>
          <a:bodyPr wrap="square" rtlCol="0" anchor="ctr"/>
          <a:lstStyle/>
          <a:p>
            <a:pPr algn="ctr" indent="0" marL="0">
              <a:buNone/>
            </a:pPr>
            <a:r>
              <a:rPr lang="en-US" sz="1200" dirty="0">
                <a:solidFill>
                  <a:srgbClr val="D1D5D8"/>
                </a:solidFill>
                <a:latin typeface="Poppins" pitchFamily="34" charset="0"/>
                <a:ea typeface="Poppins" pitchFamily="34" charset="-122"/>
                <a:cs typeface="Poppins" pitchFamily="34" charset="-120"/>
              </a:rPr>
              <a:t>to make a decision</a:t>
            </a:r>
            <a:endParaRPr lang="en-US" sz="1200" dirty="0"/>
          </a:p>
          <a:p>
            <a:pPr algn="ctr" indent="0" marL="0">
              <a:buNone/>
            </a:pPr>
            <a:r>
              <a:rPr lang="en-US" sz="1200" dirty="0">
                <a:solidFill>
                  <a:srgbClr val="D1D5D8"/>
                </a:solidFill>
                <a:latin typeface="Poppins" pitchFamily="34" charset="0"/>
                <a:ea typeface="Poppins" pitchFamily="34" charset="-122"/>
                <a:cs typeface="Poppins" pitchFamily="34" charset="-120"/>
              </a:rPr>
              <a:t>that should take days</a:t>
            </a:r>
            <a:endParaRPr lang="en-US" sz="1200" dirty="0"/>
          </a:p>
        </p:txBody>
      </p:sp>
      <p:sp>
        <p:nvSpPr>
          <p:cNvPr id="15" name="Text 12"/>
          <p:cNvSpPr/>
          <p:nvPr/>
        </p:nvSpPr>
        <p:spPr>
          <a:xfrm>
            <a:off x="0" y="4709160"/>
            <a:ext cx="9144000" cy="320040"/>
          </a:xfrm>
          <a:prstGeom prst="rect">
            <a:avLst/>
          </a:prstGeom>
          <a:noFill/>
          <a:ln/>
        </p:spPr>
        <p:txBody>
          <a:bodyPr wrap="square" rtlCol="0" anchor="ctr"/>
          <a:lstStyle/>
          <a:p>
            <a:pPr algn="ctr" indent="0" marL="0">
              <a:buNone/>
            </a:pPr>
            <a:r>
              <a:rPr lang="en-US" sz="800" dirty="0">
                <a:solidFill>
                  <a:srgbClr val="676B75"/>
                </a:solidFill>
                <a:latin typeface="Poppins" pitchFamily="34" charset="0"/>
                <a:ea typeface="Poppins" pitchFamily="34" charset="-122"/>
                <a:cs typeface="Poppins" pitchFamily="34" charset="-120"/>
              </a:rPr>
              <a:t>globaldata.com</a:t>
            </a:r>
            <a:endParaRPr lang="en-US" sz="800" dirty="0"/>
          </a:p>
        </p:txBody>
      </p:sp>
      <p:sp>
        <p:nvSpPr>
          <p:cNvPr id="16" name="Text 13"/>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676B75"/>
                </a:solidFill>
                <a:latin typeface="Poppins" pitchFamily="34" charset="0"/>
                <a:ea typeface="Poppins" pitchFamily="34" charset="-122"/>
                <a:cs typeface="Poppins"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5E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502920" cy="502920"/>
          </a:xfrm>
          <a:prstGeom prst="rect">
            <a:avLst/>
          </a:prstGeom>
        </p:spPr>
      </p:pic>
      <p:sp>
        <p:nvSpPr>
          <p:cNvPr id="3"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242528"/>
                </a:solidFill>
                <a:latin typeface="Poppins" pitchFamily="34" charset="0"/>
                <a:ea typeface="Poppins" pitchFamily="34" charset="-122"/>
                <a:cs typeface="Poppins" pitchFamily="34" charset="-120"/>
              </a:rPr>
              <a:t>What It's Costing You</a:t>
            </a:r>
            <a:endParaRPr lang="en-US" sz="2800" dirty="0"/>
          </a:p>
        </p:txBody>
      </p:sp>
      <p:sp>
        <p:nvSpPr>
          <p:cNvPr id="4" name="Shape 1"/>
          <p:cNvSpPr/>
          <p:nvPr/>
        </p:nvSpPr>
        <p:spPr>
          <a:xfrm>
            <a:off x="548640" y="1005840"/>
            <a:ext cx="1097280" cy="36576"/>
          </a:xfrm>
          <a:prstGeom prst="rect">
            <a:avLst/>
          </a:prstGeom>
          <a:solidFill>
            <a:srgbClr val="293FE1"/>
          </a:solidFill>
          <a:ln/>
        </p:spPr>
      </p:sp>
      <p:sp>
        <p:nvSpPr>
          <p:cNvPr id="5" name="Shape 2"/>
          <p:cNvSpPr/>
          <p:nvPr/>
        </p:nvSpPr>
        <p:spPr>
          <a:xfrm>
            <a:off x="548640" y="1280160"/>
            <a:ext cx="3840480" cy="1463040"/>
          </a:xfrm>
          <a:prstGeom prst="rect">
            <a:avLst/>
          </a:prstGeom>
          <a:solidFill>
            <a:srgbClr val="1F2432"/>
          </a:solidFill>
          <a:ln/>
        </p:spPr>
      </p:sp>
      <p:sp>
        <p:nvSpPr>
          <p:cNvPr id="6" name="Text 3"/>
          <p:cNvSpPr/>
          <p:nvPr/>
        </p:nvSpPr>
        <p:spPr>
          <a:xfrm>
            <a:off x="731520" y="1371600"/>
            <a:ext cx="3474720" cy="731520"/>
          </a:xfrm>
          <a:prstGeom prst="rect">
            <a:avLst/>
          </a:prstGeom>
          <a:noFill/>
          <a:ln/>
        </p:spPr>
        <p:txBody>
          <a:bodyPr wrap="square" rtlCol="0" anchor="ctr"/>
          <a:lstStyle/>
          <a:p>
            <a:pPr algn="ctr" indent="0" marL="0">
              <a:buNone/>
            </a:pPr>
            <a:r>
              <a:rPr lang="en-US" sz="4400" b="1" dirty="0">
                <a:solidFill>
                  <a:srgbClr val="293FE1"/>
                </a:solidFill>
                <a:latin typeface="Poppins" pitchFamily="34" charset="0"/>
                <a:ea typeface="Poppins" pitchFamily="34" charset="-122"/>
                <a:cs typeface="Poppins" pitchFamily="34" charset="-120"/>
              </a:rPr>
              <a:t>£63M</a:t>
            </a:r>
            <a:endParaRPr lang="en-US" sz="4400" dirty="0"/>
          </a:p>
        </p:txBody>
      </p:sp>
      <p:sp>
        <p:nvSpPr>
          <p:cNvPr id="7" name="Text 4"/>
          <p:cNvSpPr/>
          <p:nvPr/>
        </p:nvSpPr>
        <p:spPr>
          <a:xfrm>
            <a:off x="731520" y="2103120"/>
            <a:ext cx="3474720" cy="548640"/>
          </a:xfrm>
          <a:prstGeom prst="rect">
            <a:avLst/>
          </a:prstGeom>
          <a:noFill/>
          <a:ln/>
        </p:spPr>
        <p:txBody>
          <a:bodyPr wrap="square" rtlCol="0" anchor="ctr"/>
          <a:lstStyle/>
          <a:p>
            <a:pPr algn="ctr" indent="0" marL="0">
              <a:buNone/>
            </a:pPr>
            <a:r>
              <a:rPr lang="en-US" sz="1200" dirty="0">
                <a:solidFill>
                  <a:srgbClr val="FFFFFF"/>
                </a:solidFill>
                <a:latin typeface="Poppins" pitchFamily="34" charset="0"/>
                <a:ea typeface="Poppins" pitchFamily="34" charset="-122"/>
                <a:cs typeface="Poppins" pitchFamily="34" charset="-120"/>
              </a:rPr>
              <a:t>Revenue at risk across</a:t>
            </a:r>
            <a:endParaRPr lang="en-US" sz="1200" dirty="0"/>
          </a:p>
          <a:p>
            <a:pPr algn="ctr" indent="0" marL="0">
              <a:buNone/>
            </a:pPr>
            <a:r>
              <a:rPr lang="en-US" sz="1200" dirty="0">
                <a:solidFill>
                  <a:srgbClr val="FFFFFF"/>
                </a:solidFill>
                <a:latin typeface="Poppins" pitchFamily="34" charset="0"/>
                <a:ea typeface="Poppins" pitchFamily="34" charset="-122"/>
                <a:cs typeface="Poppins" pitchFamily="34" charset="-120"/>
              </a:rPr>
              <a:t>your portfolio this year</a:t>
            </a:r>
            <a:endParaRPr lang="en-US" sz="1200" dirty="0"/>
          </a:p>
        </p:txBody>
      </p:sp>
      <p:sp>
        <p:nvSpPr>
          <p:cNvPr id="8" name="Text 5"/>
          <p:cNvSpPr/>
          <p:nvPr/>
        </p:nvSpPr>
        <p:spPr>
          <a:xfrm>
            <a:off x="4754880" y="1280160"/>
            <a:ext cx="4023360" cy="365760"/>
          </a:xfrm>
          <a:prstGeom prst="rect">
            <a:avLst/>
          </a:prstGeom>
          <a:noFill/>
          <a:ln/>
        </p:spPr>
        <p:txBody>
          <a:bodyPr wrap="square" rtlCol="0" anchor="ctr"/>
          <a:lstStyle/>
          <a:p>
            <a:pPr indent="0" marL="0">
              <a:buNone/>
            </a:pPr>
            <a:r>
              <a:rPr lang="en-US" sz="1600" b="1" dirty="0">
                <a:solidFill>
                  <a:srgbClr val="242528"/>
                </a:solidFill>
                <a:latin typeface="Poppins" pitchFamily="34" charset="0"/>
                <a:ea typeface="Poppins" pitchFamily="34" charset="-122"/>
                <a:cs typeface="Poppins" pitchFamily="34" charset="-120"/>
              </a:rPr>
              <a:t>The Personal Cost</a:t>
            </a:r>
            <a:endParaRPr lang="en-US" sz="1600" dirty="0"/>
          </a:p>
        </p:txBody>
      </p:sp>
      <p:sp>
        <p:nvSpPr>
          <p:cNvPr id="9" name="Text 6"/>
          <p:cNvSpPr/>
          <p:nvPr/>
        </p:nvSpPr>
        <p:spPr>
          <a:xfrm>
            <a:off x="4754880" y="1737360"/>
            <a:ext cx="4023360" cy="1828800"/>
          </a:xfrm>
          <a:prstGeom prst="rect">
            <a:avLst/>
          </a:prstGeom>
          <a:noFill/>
          <a:ln/>
        </p:spPr>
        <p:txBody>
          <a:bodyPr wrap="square" rtlCol="0" anchor="ctr"/>
          <a:lstStyle/>
          <a:p>
            <a:pPr marL="342900" indent="-342900">
              <a:spcAft>
                <a:spcPts val="600"/>
              </a:spcAft>
              <a:buSzPct val="100000"/>
              <a:buChar char="•"/>
            </a:pPr>
            <a:r>
              <a:rPr lang="en-US" sz="1100" dirty="0">
                <a:solidFill>
                  <a:srgbClr val="242528"/>
                </a:solidFill>
                <a:latin typeface="Poppins" pitchFamily="34" charset="0"/>
                <a:ea typeface="Poppins" pitchFamily="34" charset="-122"/>
                <a:cs typeface="Poppins" pitchFamily="34" charset="-120"/>
              </a:rPr>
              <a:t>60% of your time reconciling — not deciding</a:t>
            </a:r>
            <a:endParaRPr lang="en-US" sz="1100" dirty="0"/>
          </a:p>
          <a:p>
            <a:pPr marL="342900" indent="-342900">
              <a:spcAft>
                <a:spcPts val="600"/>
              </a:spcAft>
              <a:buSzPct val="100000"/>
              <a:buChar char="•"/>
            </a:pPr>
            <a:r>
              <a:rPr lang="en-US" sz="1100" dirty="0">
                <a:solidFill>
                  <a:srgbClr val="242528"/>
                </a:solidFill>
                <a:latin typeface="Poppins" pitchFamily="34" charset="0"/>
                <a:ea typeface="Poppins" pitchFamily="34" charset="-122"/>
                <a:cs typeface="Poppins" pitchFamily="34" charset="-120"/>
              </a:rPr>
              <a:t>Credibility depends on numbers you don't trust</a:t>
            </a:r>
            <a:endParaRPr lang="en-US" sz="1100" dirty="0"/>
          </a:p>
          <a:p>
            <a:pPr marL="342900" indent="-342900">
              <a:spcAft>
                <a:spcPts val="600"/>
              </a:spcAft>
              <a:buSzPct val="100000"/>
              <a:buChar char="•"/>
            </a:pPr>
            <a:r>
              <a:rPr lang="en-US" sz="1100" dirty="0">
                <a:solidFill>
                  <a:srgbClr val="242528"/>
                </a:solidFill>
                <a:latin typeface="Poppins" pitchFamily="34" charset="0"/>
                <a:ea typeface="Poppins" pitchFamily="34" charset="-122"/>
                <a:cs typeface="Poppins" pitchFamily="34" charset="-120"/>
              </a:rPr>
              <a:t>Insight is buried across seven platforms</a:t>
            </a:r>
            <a:endParaRPr lang="en-US" sz="1100" dirty="0"/>
          </a:p>
          <a:p>
            <a:pPr marL="342900" indent="-342900">
              <a:spcAft>
                <a:spcPts val="600"/>
              </a:spcAft>
              <a:buSzPct val="100000"/>
              <a:buChar char="•"/>
            </a:pPr>
            <a:r>
              <a:rPr lang="en-US" sz="1100" dirty="0">
                <a:solidFill>
                  <a:srgbClr val="242528"/>
                </a:solidFill>
                <a:latin typeface="Poppins" pitchFamily="34" charset="0"/>
                <a:ea typeface="Poppins" pitchFamily="34" charset="-122"/>
                <a:cs typeface="Poppins" pitchFamily="34" charset="-120"/>
              </a:rPr>
              <a:t>By the time you've pieced it together, the window has closed</a:t>
            </a:r>
            <a:endParaRPr lang="en-US" sz="1100" dirty="0"/>
          </a:p>
        </p:txBody>
      </p:sp>
      <p:sp>
        <p:nvSpPr>
          <p:cNvPr id="10" name="Shape 7"/>
          <p:cNvSpPr/>
          <p:nvPr/>
        </p:nvSpPr>
        <p:spPr>
          <a:xfrm>
            <a:off x="548640" y="3108960"/>
            <a:ext cx="8046720" cy="1188720"/>
          </a:xfrm>
          <a:prstGeom prst="rect">
            <a:avLst/>
          </a:prstGeom>
          <a:solidFill>
            <a:srgbClr val="FFFFFF"/>
          </a:solidFill>
          <a:ln/>
        </p:spPr>
      </p:sp>
      <p:sp>
        <p:nvSpPr>
          <p:cNvPr id="11" name="Text 8"/>
          <p:cNvSpPr/>
          <p:nvPr/>
        </p:nvSpPr>
        <p:spPr>
          <a:xfrm>
            <a:off x="731520" y="3200400"/>
            <a:ext cx="7680960" cy="914400"/>
          </a:xfrm>
          <a:prstGeom prst="rect">
            <a:avLst/>
          </a:prstGeom>
          <a:noFill/>
          <a:ln/>
        </p:spPr>
        <p:txBody>
          <a:bodyPr wrap="square" rtlCol="0" anchor="ctr"/>
          <a:lstStyle/>
          <a:p>
            <a:pPr indent="0" marL="0">
              <a:buNone/>
            </a:pPr>
            <a:r>
              <a:rPr lang="en-US" sz="1100" dirty="0">
                <a:solidFill>
                  <a:srgbClr val="242528"/>
                </a:solidFill>
                <a:latin typeface="Poppins" pitchFamily="34" charset="0"/>
                <a:ea typeface="Poppins" pitchFamily="34" charset="-122"/>
                <a:cs typeface="Poppins" pitchFamily="34" charset="-120"/>
              </a:rPr>
              <a:t>A competitor saw the same signal six months ago. </a:t>
            </a:r>
            <a:pPr indent="0" marL="0">
              <a:buNone/>
            </a:pPr>
            <a:r>
              <a:rPr lang="en-US" sz="1100" b="1" dirty="0">
                <a:solidFill>
                  <a:srgbClr val="242528"/>
                </a:solidFill>
                <a:latin typeface="Poppins" pitchFamily="34" charset="0"/>
                <a:ea typeface="Poppins" pitchFamily="34" charset="-122"/>
                <a:cs typeface="Poppins" pitchFamily="34" charset="-120"/>
              </a:rPr>
              <a:t>They launched. They claimed the shelf. </a:t>
            </a:r>
            <a:pPr indent="0" marL="0">
              <a:buNone/>
            </a:pPr>
            <a:r>
              <a:rPr lang="en-US" sz="1100" b="1" dirty="0">
                <a:solidFill>
                  <a:srgbClr val="293FE1"/>
                </a:solidFill>
                <a:latin typeface="Poppins" pitchFamily="34" charset="0"/>
                <a:ea typeface="Poppins" pitchFamily="34" charset="-122"/>
                <a:cs typeface="Poppins" pitchFamily="34" charset="-120"/>
              </a:rPr>
              <a:t>You were still reconciling data.</a:t>
            </a:r>
            <a:endParaRPr lang="en-US" sz="1100" dirty="0"/>
          </a:p>
        </p:txBody>
      </p:sp>
      <p:sp>
        <p:nvSpPr>
          <p:cNvPr id="12" name="Text 9"/>
          <p:cNvSpPr/>
          <p:nvPr/>
        </p:nvSpPr>
        <p:spPr>
          <a:xfrm>
            <a:off x="0" y="4709160"/>
            <a:ext cx="9144000" cy="320040"/>
          </a:xfrm>
          <a:prstGeom prst="rect">
            <a:avLst/>
          </a:prstGeom>
          <a:noFill/>
          <a:ln/>
        </p:spPr>
        <p:txBody>
          <a:bodyPr wrap="square" rtlCol="0" anchor="ctr"/>
          <a:lstStyle/>
          <a:p>
            <a:pPr algn="ctr" indent="0" marL="0">
              <a:buNone/>
            </a:pPr>
            <a:r>
              <a:rPr lang="en-US" sz="800" dirty="0">
                <a:solidFill>
                  <a:srgbClr val="676B75"/>
                </a:solidFill>
                <a:latin typeface="Poppins" pitchFamily="34" charset="0"/>
                <a:ea typeface="Poppins" pitchFamily="34" charset="-122"/>
                <a:cs typeface="Poppins" pitchFamily="34" charset="-120"/>
              </a:rPr>
              <a:t>globaldata.com</a:t>
            </a:r>
            <a:endParaRPr lang="en-US" sz="800" dirty="0"/>
          </a:p>
        </p:txBody>
      </p:sp>
      <p:sp>
        <p:nvSpPr>
          <p:cNvPr id="13" name="Text 10"/>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676B75"/>
                </a:solidFill>
                <a:latin typeface="Poppins" pitchFamily="34" charset="0"/>
                <a:ea typeface="Poppins" pitchFamily="34" charset="-122"/>
                <a:cs typeface="Poppins"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24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502920" cy="502920"/>
          </a:xfrm>
          <a:prstGeom prst="rect">
            <a:avLst/>
          </a:prstGeom>
        </p:spPr>
      </p:pic>
      <p:sp>
        <p:nvSpPr>
          <p:cNvPr id="3" name="Text 0"/>
          <p:cNvSpPr/>
          <p:nvPr/>
        </p:nvSpPr>
        <p:spPr>
          <a:xfrm>
            <a:off x="548640" y="274320"/>
            <a:ext cx="7315200" cy="457200"/>
          </a:xfrm>
          <a:prstGeom prst="rect">
            <a:avLst/>
          </a:prstGeom>
          <a:noFill/>
          <a:ln/>
        </p:spPr>
        <p:txBody>
          <a:bodyPr wrap="square" rtlCol="0" anchor="ctr"/>
          <a:lstStyle/>
          <a:p>
            <a:pPr indent="0" marL="0">
              <a:buNone/>
            </a:pPr>
            <a:r>
              <a:rPr lang="en-US" sz="2400" b="1" dirty="0">
                <a:solidFill>
                  <a:srgbClr val="FFFFFF"/>
                </a:solidFill>
                <a:latin typeface="Poppins" pitchFamily="34" charset="0"/>
                <a:ea typeface="Poppins" pitchFamily="34" charset="-122"/>
                <a:cs typeface="Poppins" pitchFamily="34" charset="-120"/>
              </a:rPr>
              <a:t>One Lens, One New Way of Working</a:t>
            </a:r>
            <a:endParaRPr lang="en-US" sz="2400" dirty="0"/>
          </a:p>
        </p:txBody>
      </p:sp>
      <p:sp>
        <p:nvSpPr>
          <p:cNvPr id="4" name="Shape 1"/>
          <p:cNvSpPr/>
          <p:nvPr/>
        </p:nvSpPr>
        <p:spPr>
          <a:xfrm>
            <a:off x="548640" y="777240"/>
            <a:ext cx="1097280" cy="36576"/>
          </a:xfrm>
          <a:prstGeom prst="rect">
            <a:avLst/>
          </a:prstGeom>
          <a:solidFill>
            <a:srgbClr val="293FE1"/>
          </a:solidFill>
          <a:ln/>
        </p:spPr>
      </p:sp>
      <p:sp>
        <p:nvSpPr>
          <p:cNvPr id="5" name="Shape 2"/>
          <p:cNvSpPr/>
          <p:nvPr/>
        </p:nvSpPr>
        <p:spPr>
          <a:xfrm>
            <a:off x="548640" y="1051560"/>
            <a:ext cx="2606040" cy="1737360"/>
          </a:xfrm>
          <a:prstGeom prst="rect">
            <a:avLst/>
          </a:prstGeom>
          <a:solidFill>
            <a:srgbClr val="2A3145"/>
          </a:solidFill>
          <a:ln/>
        </p:spPr>
      </p:sp>
      <p:sp>
        <p:nvSpPr>
          <p:cNvPr id="6" name="Text 3"/>
          <p:cNvSpPr/>
          <p:nvPr/>
        </p:nvSpPr>
        <p:spPr>
          <a:xfrm>
            <a:off x="685800" y="1143000"/>
            <a:ext cx="2331720" cy="320040"/>
          </a:xfrm>
          <a:prstGeom prst="rect">
            <a:avLst/>
          </a:prstGeom>
          <a:noFill/>
          <a:ln/>
        </p:spPr>
        <p:txBody>
          <a:bodyPr wrap="square" lIns="0" tIns="0" rIns="0" bIns="0" rtlCol="0" anchor="ctr"/>
          <a:lstStyle/>
          <a:p>
            <a:pPr indent="0" marL="0">
              <a:buNone/>
            </a:pPr>
            <a:r>
              <a:rPr lang="en-US" sz="1600" b="1" dirty="0">
                <a:solidFill>
                  <a:srgbClr val="293FE1"/>
                </a:solidFill>
                <a:latin typeface="Poppins" pitchFamily="34" charset="0"/>
                <a:ea typeface="Poppins" pitchFamily="34" charset="-122"/>
                <a:cs typeface="Poppins" pitchFamily="34" charset="-120"/>
              </a:rPr>
              <a:t>Sarah</a:t>
            </a:r>
            <a:endParaRPr lang="en-US" sz="1600" dirty="0"/>
          </a:p>
        </p:txBody>
      </p:sp>
      <p:sp>
        <p:nvSpPr>
          <p:cNvPr id="7" name="Text 4"/>
          <p:cNvSpPr/>
          <p:nvPr/>
        </p:nvSpPr>
        <p:spPr>
          <a:xfrm>
            <a:off x="685800" y="1463040"/>
            <a:ext cx="2331720" cy="228600"/>
          </a:xfrm>
          <a:prstGeom prst="rect">
            <a:avLst/>
          </a:prstGeom>
          <a:noFill/>
          <a:ln/>
        </p:spPr>
        <p:txBody>
          <a:bodyPr wrap="square" lIns="0" tIns="0" rIns="0" bIns="0" rtlCol="0" anchor="ctr"/>
          <a:lstStyle/>
          <a:p>
            <a:pPr indent="0" marL="0">
              <a:buNone/>
            </a:pPr>
            <a:r>
              <a:rPr lang="en-US" sz="900" dirty="0">
                <a:solidFill>
                  <a:srgbClr val="D1D5D8"/>
                </a:solidFill>
                <a:latin typeface="Poppins" pitchFamily="34" charset="0"/>
                <a:ea typeface="Poppins" pitchFamily="34" charset="-122"/>
                <a:cs typeface="Poppins" pitchFamily="34" charset="-120"/>
              </a:rPr>
              <a:t>Head of Strategy</a:t>
            </a:r>
            <a:endParaRPr lang="en-US" sz="900" dirty="0"/>
          </a:p>
        </p:txBody>
      </p:sp>
      <p:sp>
        <p:nvSpPr>
          <p:cNvPr id="8" name="Shape 5"/>
          <p:cNvSpPr/>
          <p:nvPr/>
        </p:nvSpPr>
        <p:spPr>
          <a:xfrm>
            <a:off x="685800" y="1737360"/>
            <a:ext cx="2331720" cy="18288"/>
          </a:xfrm>
          <a:prstGeom prst="rect">
            <a:avLst/>
          </a:prstGeom>
          <a:solidFill>
            <a:srgbClr val="293FE1"/>
          </a:solidFill>
          <a:ln/>
        </p:spPr>
      </p:sp>
      <p:sp>
        <p:nvSpPr>
          <p:cNvPr id="9" name="Text 6"/>
          <p:cNvSpPr/>
          <p:nvPr/>
        </p:nvSpPr>
        <p:spPr>
          <a:xfrm>
            <a:off x="685800" y="1828800"/>
            <a:ext cx="2331720" cy="27432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Strategic Intelligence</a:t>
            </a:r>
            <a:endParaRPr lang="en-US" sz="1000" dirty="0"/>
          </a:p>
        </p:txBody>
      </p:sp>
      <p:sp>
        <p:nvSpPr>
          <p:cNvPr id="10" name="Text 7"/>
          <p:cNvSpPr/>
          <p:nvPr/>
        </p:nvSpPr>
        <p:spPr>
          <a:xfrm>
            <a:off x="685800" y="2148840"/>
            <a:ext cx="2331720" cy="502920"/>
          </a:xfrm>
          <a:prstGeom prst="rect">
            <a:avLst/>
          </a:prstGeom>
          <a:noFill/>
          <a:ln/>
        </p:spPr>
        <p:txBody>
          <a:bodyPr wrap="square" lIns="0" tIns="0" rIns="0" bIns="0" rtlCol="0" anchor="ctr"/>
          <a:lstStyle/>
          <a:p>
            <a:pPr indent="0" marL="0">
              <a:buNone/>
            </a:pPr>
            <a:r>
              <a:rPr lang="en-US" sz="900" dirty="0">
                <a:solidFill>
                  <a:srgbClr val="D1D5D8"/>
                </a:solidFill>
                <a:latin typeface="Poppins" pitchFamily="34" charset="0"/>
                <a:ea typeface="Poppins" pitchFamily="34" charset="-122"/>
                <a:cs typeface="Poppins" pitchFamily="34" charset="-120"/>
              </a:rPr>
              <a:t>Predictive foresight before the market shifts</a:t>
            </a:r>
            <a:endParaRPr lang="en-US" sz="900" dirty="0"/>
          </a:p>
        </p:txBody>
      </p:sp>
      <p:sp>
        <p:nvSpPr>
          <p:cNvPr id="11" name="Shape 8"/>
          <p:cNvSpPr/>
          <p:nvPr/>
        </p:nvSpPr>
        <p:spPr>
          <a:xfrm>
            <a:off x="3337560" y="1051560"/>
            <a:ext cx="2606040" cy="1737360"/>
          </a:xfrm>
          <a:prstGeom prst="rect">
            <a:avLst/>
          </a:prstGeom>
          <a:solidFill>
            <a:srgbClr val="2A3145"/>
          </a:solidFill>
          <a:ln/>
        </p:spPr>
      </p:sp>
      <p:sp>
        <p:nvSpPr>
          <p:cNvPr id="12" name="Text 9"/>
          <p:cNvSpPr/>
          <p:nvPr/>
        </p:nvSpPr>
        <p:spPr>
          <a:xfrm>
            <a:off x="3474720" y="1143000"/>
            <a:ext cx="2331720" cy="320040"/>
          </a:xfrm>
          <a:prstGeom prst="rect">
            <a:avLst/>
          </a:prstGeom>
          <a:noFill/>
          <a:ln/>
        </p:spPr>
        <p:txBody>
          <a:bodyPr wrap="square" lIns="0" tIns="0" rIns="0" bIns="0" rtlCol="0" anchor="ctr"/>
          <a:lstStyle/>
          <a:p>
            <a:pPr indent="0" marL="0">
              <a:buNone/>
            </a:pPr>
            <a:r>
              <a:rPr lang="en-US" sz="1600" b="1" dirty="0">
                <a:solidFill>
                  <a:srgbClr val="293FE1"/>
                </a:solidFill>
                <a:latin typeface="Poppins" pitchFamily="34" charset="0"/>
                <a:ea typeface="Poppins" pitchFamily="34" charset="-122"/>
                <a:cs typeface="Poppins" pitchFamily="34" charset="-120"/>
              </a:rPr>
              <a:t>James</a:t>
            </a:r>
            <a:endParaRPr lang="en-US" sz="1600" dirty="0"/>
          </a:p>
        </p:txBody>
      </p:sp>
      <p:sp>
        <p:nvSpPr>
          <p:cNvPr id="13" name="Text 10"/>
          <p:cNvSpPr/>
          <p:nvPr/>
        </p:nvSpPr>
        <p:spPr>
          <a:xfrm>
            <a:off x="3474720" y="1463040"/>
            <a:ext cx="2331720" cy="228600"/>
          </a:xfrm>
          <a:prstGeom prst="rect">
            <a:avLst/>
          </a:prstGeom>
          <a:noFill/>
          <a:ln/>
        </p:spPr>
        <p:txBody>
          <a:bodyPr wrap="square" lIns="0" tIns="0" rIns="0" bIns="0" rtlCol="0" anchor="ctr"/>
          <a:lstStyle/>
          <a:p>
            <a:pPr indent="0" marL="0">
              <a:buNone/>
            </a:pPr>
            <a:r>
              <a:rPr lang="en-US" sz="900" dirty="0">
                <a:solidFill>
                  <a:srgbClr val="D1D5D8"/>
                </a:solidFill>
                <a:latin typeface="Poppins" pitchFamily="34" charset="0"/>
                <a:ea typeface="Poppins" pitchFamily="34" charset="-122"/>
                <a:cs typeface="Poppins" pitchFamily="34" charset="-120"/>
              </a:rPr>
              <a:t>Market Intelligence Lead</a:t>
            </a:r>
            <a:endParaRPr lang="en-US" sz="900" dirty="0"/>
          </a:p>
        </p:txBody>
      </p:sp>
      <p:sp>
        <p:nvSpPr>
          <p:cNvPr id="14" name="Shape 11"/>
          <p:cNvSpPr/>
          <p:nvPr/>
        </p:nvSpPr>
        <p:spPr>
          <a:xfrm>
            <a:off x="3474720" y="1737360"/>
            <a:ext cx="2331720" cy="18288"/>
          </a:xfrm>
          <a:prstGeom prst="rect">
            <a:avLst/>
          </a:prstGeom>
          <a:solidFill>
            <a:srgbClr val="293FE1"/>
          </a:solidFill>
          <a:ln/>
        </p:spPr>
      </p:sp>
      <p:sp>
        <p:nvSpPr>
          <p:cNvPr id="15" name="Text 12"/>
          <p:cNvSpPr/>
          <p:nvPr/>
        </p:nvSpPr>
        <p:spPr>
          <a:xfrm>
            <a:off x="3474720" y="1828800"/>
            <a:ext cx="2331720" cy="27432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Market Intelligence</a:t>
            </a:r>
            <a:endParaRPr lang="en-US" sz="1000" dirty="0"/>
          </a:p>
        </p:txBody>
      </p:sp>
      <p:sp>
        <p:nvSpPr>
          <p:cNvPr id="16" name="Text 13"/>
          <p:cNvSpPr/>
          <p:nvPr/>
        </p:nvSpPr>
        <p:spPr>
          <a:xfrm>
            <a:off x="3474720" y="2148840"/>
            <a:ext cx="2331720" cy="502920"/>
          </a:xfrm>
          <a:prstGeom prst="rect">
            <a:avLst/>
          </a:prstGeom>
          <a:noFill/>
          <a:ln/>
        </p:spPr>
        <p:txBody>
          <a:bodyPr wrap="square" lIns="0" tIns="0" rIns="0" bIns="0" rtlCol="0" anchor="ctr"/>
          <a:lstStyle/>
          <a:p>
            <a:pPr indent="0" marL="0">
              <a:buNone/>
            </a:pPr>
            <a:r>
              <a:rPr lang="en-US" sz="900" dirty="0">
                <a:solidFill>
                  <a:srgbClr val="D1D5D8"/>
                </a:solidFill>
                <a:latin typeface="Poppins" pitchFamily="34" charset="0"/>
                <a:ea typeface="Poppins" pitchFamily="34" charset="-122"/>
                <a:cs typeface="Poppins" pitchFamily="34" charset="-120"/>
              </a:rPr>
              <a:t>One definitive sizing across every market</a:t>
            </a:r>
            <a:endParaRPr lang="en-US" sz="900" dirty="0"/>
          </a:p>
        </p:txBody>
      </p:sp>
      <p:sp>
        <p:nvSpPr>
          <p:cNvPr id="17" name="Shape 14"/>
          <p:cNvSpPr/>
          <p:nvPr/>
        </p:nvSpPr>
        <p:spPr>
          <a:xfrm>
            <a:off x="6126480" y="1051560"/>
            <a:ext cx="2606040" cy="1737360"/>
          </a:xfrm>
          <a:prstGeom prst="rect">
            <a:avLst/>
          </a:prstGeom>
          <a:solidFill>
            <a:srgbClr val="2A3145"/>
          </a:solidFill>
          <a:ln/>
        </p:spPr>
      </p:sp>
      <p:sp>
        <p:nvSpPr>
          <p:cNvPr id="18" name="Text 15"/>
          <p:cNvSpPr/>
          <p:nvPr/>
        </p:nvSpPr>
        <p:spPr>
          <a:xfrm>
            <a:off x="6263640" y="1143000"/>
            <a:ext cx="2331720" cy="320040"/>
          </a:xfrm>
          <a:prstGeom prst="rect">
            <a:avLst/>
          </a:prstGeom>
          <a:noFill/>
          <a:ln/>
        </p:spPr>
        <p:txBody>
          <a:bodyPr wrap="square" lIns="0" tIns="0" rIns="0" bIns="0" rtlCol="0" anchor="ctr"/>
          <a:lstStyle/>
          <a:p>
            <a:pPr indent="0" marL="0">
              <a:buNone/>
            </a:pPr>
            <a:r>
              <a:rPr lang="en-US" sz="1600" b="1" dirty="0">
                <a:solidFill>
                  <a:srgbClr val="293FE1"/>
                </a:solidFill>
                <a:latin typeface="Poppins" pitchFamily="34" charset="0"/>
                <a:ea typeface="Poppins" pitchFamily="34" charset="-122"/>
                <a:cs typeface="Poppins" pitchFamily="34" charset="-120"/>
              </a:rPr>
              <a:t>Priya</a:t>
            </a:r>
            <a:endParaRPr lang="en-US" sz="1600" dirty="0"/>
          </a:p>
        </p:txBody>
      </p:sp>
      <p:sp>
        <p:nvSpPr>
          <p:cNvPr id="19" name="Text 16"/>
          <p:cNvSpPr/>
          <p:nvPr/>
        </p:nvSpPr>
        <p:spPr>
          <a:xfrm>
            <a:off x="6263640" y="1463040"/>
            <a:ext cx="2331720" cy="228600"/>
          </a:xfrm>
          <a:prstGeom prst="rect">
            <a:avLst/>
          </a:prstGeom>
          <a:noFill/>
          <a:ln/>
        </p:spPr>
        <p:txBody>
          <a:bodyPr wrap="square" lIns="0" tIns="0" rIns="0" bIns="0" rtlCol="0" anchor="ctr"/>
          <a:lstStyle/>
          <a:p>
            <a:pPr indent="0" marL="0">
              <a:buNone/>
            </a:pPr>
            <a:r>
              <a:rPr lang="en-US" sz="900" dirty="0">
                <a:solidFill>
                  <a:srgbClr val="D1D5D8"/>
                </a:solidFill>
                <a:latin typeface="Poppins" pitchFamily="34" charset="0"/>
                <a:ea typeface="Poppins" pitchFamily="34" charset="-122"/>
                <a:cs typeface="Poppins" pitchFamily="34" charset="-120"/>
              </a:rPr>
              <a:t>Competitive Intelligence</a:t>
            </a:r>
            <a:endParaRPr lang="en-US" sz="900" dirty="0"/>
          </a:p>
        </p:txBody>
      </p:sp>
      <p:sp>
        <p:nvSpPr>
          <p:cNvPr id="20" name="Shape 17"/>
          <p:cNvSpPr/>
          <p:nvPr/>
        </p:nvSpPr>
        <p:spPr>
          <a:xfrm>
            <a:off x="6263640" y="1737360"/>
            <a:ext cx="2331720" cy="18288"/>
          </a:xfrm>
          <a:prstGeom prst="rect">
            <a:avLst/>
          </a:prstGeom>
          <a:solidFill>
            <a:srgbClr val="293FE1"/>
          </a:solidFill>
          <a:ln/>
        </p:spPr>
      </p:sp>
      <p:sp>
        <p:nvSpPr>
          <p:cNvPr id="21" name="Text 18"/>
          <p:cNvSpPr/>
          <p:nvPr/>
        </p:nvSpPr>
        <p:spPr>
          <a:xfrm>
            <a:off x="6263640" y="1828800"/>
            <a:ext cx="2331720" cy="27432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Competitive Intelligence</a:t>
            </a:r>
            <a:endParaRPr lang="en-US" sz="1000" dirty="0"/>
          </a:p>
        </p:txBody>
      </p:sp>
      <p:sp>
        <p:nvSpPr>
          <p:cNvPr id="22" name="Text 19"/>
          <p:cNvSpPr/>
          <p:nvPr/>
        </p:nvSpPr>
        <p:spPr>
          <a:xfrm>
            <a:off x="6263640" y="2148840"/>
            <a:ext cx="2331720" cy="502920"/>
          </a:xfrm>
          <a:prstGeom prst="rect">
            <a:avLst/>
          </a:prstGeom>
          <a:noFill/>
          <a:ln/>
        </p:spPr>
        <p:txBody>
          <a:bodyPr wrap="square" lIns="0" tIns="0" rIns="0" bIns="0" rtlCol="0" anchor="ctr"/>
          <a:lstStyle/>
          <a:p>
            <a:pPr indent="0" marL="0">
              <a:buNone/>
            </a:pPr>
            <a:r>
              <a:rPr lang="en-US" sz="900" dirty="0">
                <a:solidFill>
                  <a:srgbClr val="D1D5D8"/>
                </a:solidFill>
                <a:latin typeface="Poppins" pitchFamily="34" charset="0"/>
                <a:ea typeface="Poppins" pitchFamily="34" charset="-122"/>
                <a:cs typeface="Poppins" pitchFamily="34" charset="-120"/>
              </a:rPr>
              <a:t>Real-time tracking of every competitive move</a:t>
            </a:r>
            <a:endParaRPr lang="en-US" sz="900" dirty="0"/>
          </a:p>
        </p:txBody>
      </p:sp>
      <p:sp>
        <p:nvSpPr>
          <p:cNvPr id="23" name="Shape 20"/>
          <p:cNvSpPr/>
          <p:nvPr/>
        </p:nvSpPr>
        <p:spPr>
          <a:xfrm>
            <a:off x="548640" y="2971800"/>
            <a:ext cx="2606040" cy="1737360"/>
          </a:xfrm>
          <a:prstGeom prst="rect">
            <a:avLst/>
          </a:prstGeom>
          <a:solidFill>
            <a:srgbClr val="2A3145"/>
          </a:solidFill>
          <a:ln/>
        </p:spPr>
      </p:sp>
      <p:sp>
        <p:nvSpPr>
          <p:cNvPr id="24" name="Text 21"/>
          <p:cNvSpPr/>
          <p:nvPr/>
        </p:nvSpPr>
        <p:spPr>
          <a:xfrm>
            <a:off x="685800" y="3063240"/>
            <a:ext cx="2331720" cy="320040"/>
          </a:xfrm>
          <a:prstGeom prst="rect">
            <a:avLst/>
          </a:prstGeom>
          <a:noFill/>
          <a:ln/>
        </p:spPr>
        <p:txBody>
          <a:bodyPr wrap="square" lIns="0" tIns="0" rIns="0" bIns="0" rtlCol="0" anchor="ctr"/>
          <a:lstStyle/>
          <a:p>
            <a:pPr indent="0" marL="0">
              <a:buNone/>
            </a:pPr>
            <a:r>
              <a:rPr lang="en-US" sz="1600" b="1" dirty="0">
                <a:solidFill>
                  <a:srgbClr val="293FE1"/>
                </a:solidFill>
                <a:latin typeface="Poppins" pitchFamily="34" charset="0"/>
                <a:ea typeface="Poppins" pitchFamily="34" charset="-122"/>
                <a:cs typeface="Poppins" pitchFamily="34" charset="-120"/>
              </a:rPr>
              <a:t>Marcus</a:t>
            </a:r>
            <a:endParaRPr lang="en-US" sz="1600" dirty="0"/>
          </a:p>
        </p:txBody>
      </p:sp>
      <p:sp>
        <p:nvSpPr>
          <p:cNvPr id="25" name="Text 22"/>
          <p:cNvSpPr/>
          <p:nvPr/>
        </p:nvSpPr>
        <p:spPr>
          <a:xfrm>
            <a:off x="685800" y="3383280"/>
            <a:ext cx="2331720" cy="228600"/>
          </a:xfrm>
          <a:prstGeom prst="rect">
            <a:avLst/>
          </a:prstGeom>
          <a:noFill/>
          <a:ln/>
        </p:spPr>
        <p:txBody>
          <a:bodyPr wrap="square" lIns="0" tIns="0" rIns="0" bIns="0" rtlCol="0" anchor="ctr"/>
          <a:lstStyle/>
          <a:p>
            <a:pPr indent="0" marL="0">
              <a:buNone/>
            </a:pPr>
            <a:r>
              <a:rPr lang="en-US" sz="900" dirty="0">
                <a:solidFill>
                  <a:srgbClr val="D1D5D8"/>
                </a:solidFill>
                <a:latin typeface="Poppins" pitchFamily="34" charset="0"/>
                <a:ea typeface="Poppins" pitchFamily="34" charset="-122"/>
                <a:cs typeface="Poppins" pitchFamily="34" charset="-120"/>
              </a:rPr>
              <a:t>Innovation Director</a:t>
            </a:r>
            <a:endParaRPr lang="en-US" sz="900" dirty="0"/>
          </a:p>
        </p:txBody>
      </p:sp>
      <p:sp>
        <p:nvSpPr>
          <p:cNvPr id="26" name="Shape 23"/>
          <p:cNvSpPr/>
          <p:nvPr/>
        </p:nvSpPr>
        <p:spPr>
          <a:xfrm>
            <a:off x="685800" y="3657600"/>
            <a:ext cx="2331720" cy="18288"/>
          </a:xfrm>
          <a:prstGeom prst="rect">
            <a:avLst/>
          </a:prstGeom>
          <a:solidFill>
            <a:srgbClr val="293FE1"/>
          </a:solidFill>
          <a:ln/>
        </p:spPr>
      </p:sp>
      <p:sp>
        <p:nvSpPr>
          <p:cNvPr id="27" name="Text 24"/>
          <p:cNvSpPr/>
          <p:nvPr/>
        </p:nvSpPr>
        <p:spPr>
          <a:xfrm>
            <a:off x="685800" y="3749040"/>
            <a:ext cx="2331720" cy="27432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Innovation Intelligence</a:t>
            </a:r>
            <a:endParaRPr lang="en-US" sz="1000" dirty="0"/>
          </a:p>
        </p:txBody>
      </p:sp>
      <p:sp>
        <p:nvSpPr>
          <p:cNvPr id="28" name="Text 25"/>
          <p:cNvSpPr/>
          <p:nvPr/>
        </p:nvSpPr>
        <p:spPr>
          <a:xfrm>
            <a:off x="685800" y="4069080"/>
            <a:ext cx="2331720" cy="502920"/>
          </a:xfrm>
          <a:prstGeom prst="rect">
            <a:avLst/>
          </a:prstGeom>
          <a:noFill/>
          <a:ln/>
        </p:spPr>
        <p:txBody>
          <a:bodyPr wrap="square" lIns="0" tIns="0" rIns="0" bIns="0" rtlCol="0" anchor="ctr"/>
          <a:lstStyle/>
          <a:p>
            <a:pPr indent="0" marL="0">
              <a:buNone/>
            </a:pPr>
            <a:r>
              <a:rPr lang="en-US" sz="900" dirty="0">
                <a:solidFill>
                  <a:srgbClr val="D1D5D8"/>
                </a:solidFill>
                <a:latin typeface="Poppins" pitchFamily="34" charset="0"/>
                <a:ea typeface="Poppins" pitchFamily="34" charset="-122"/>
                <a:cs typeface="Poppins" pitchFamily="34" charset="-120"/>
              </a:rPr>
              <a:t>Concepts scored against real consumer signals</a:t>
            </a:r>
            <a:endParaRPr lang="en-US" sz="900" dirty="0"/>
          </a:p>
        </p:txBody>
      </p:sp>
      <p:sp>
        <p:nvSpPr>
          <p:cNvPr id="29" name="Shape 26"/>
          <p:cNvSpPr/>
          <p:nvPr/>
        </p:nvSpPr>
        <p:spPr>
          <a:xfrm>
            <a:off x="3337560" y="2971800"/>
            <a:ext cx="2606040" cy="1737360"/>
          </a:xfrm>
          <a:prstGeom prst="rect">
            <a:avLst/>
          </a:prstGeom>
          <a:solidFill>
            <a:srgbClr val="2A3145"/>
          </a:solidFill>
          <a:ln/>
        </p:spPr>
      </p:sp>
      <p:sp>
        <p:nvSpPr>
          <p:cNvPr id="30" name="Text 27"/>
          <p:cNvSpPr/>
          <p:nvPr/>
        </p:nvSpPr>
        <p:spPr>
          <a:xfrm>
            <a:off x="3474720" y="3063240"/>
            <a:ext cx="2331720" cy="320040"/>
          </a:xfrm>
          <a:prstGeom prst="rect">
            <a:avLst/>
          </a:prstGeom>
          <a:noFill/>
          <a:ln/>
        </p:spPr>
        <p:txBody>
          <a:bodyPr wrap="square" lIns="0" tIns="0" rIns="0" bIns="0" rtlCol="0" anchor="ctr"/>
          <a:lstStyle/>
          <a:p>
            <a:pPr indent="0" marL="0">
              <a:buNone/>
            </a:pPr>
            <a:r>
              <a:rPr lang="en-US" sz="1600" b="1" dirty="0">
                <a:solidFill>
                  <a:srgbClr val="293FE1"/>
                </a:solidFill>
                <a:latin typeface="Poppins" pitchFamily="34" charset="0"/>
                <a:ea typeface="Poppins" pitchFamily="34" charset="-122"/>
                <a:cs typeface="Poppins" pitchFamily="34" charset="-120"/>
              </a:rPr>
              <a:t>Elena</a:t>
            </a:r>
            <a:endParaRPr lang="en-US" sz="1600" dirty="0"/>
          </a:p>
        </p:txBody>
      </p:sp>
      <p:sp>
        <p:nvSpPr>
          <p:cNvPr id="31" name="Text 28"/>
          <p:cNvSpPr/>
          <p:nvPr/>
        </p:nvSpPr>
        <p:spPr>
          <a:xfrm>
            <a:off x="3474720" y="3383280"/>
            <a:ext cx="2331720" cy="228600"/>
          </a:xfrm>
          <a:prstGeom prst="rect">
            <a:avLst/>
          </a:prstGeom>
          <a:noFill/>
          <a:ln/>
        </p:spPr>
        <p:txBody>
          <a:bodyPr wrap="square" lIns="0" tIns="0" rIns="0" bIns="0" rtlCol="0" anchor="ctr"/>
          <a:lstStyle/>
          <a:p>
            <a:pPr indent="0" marL="0">
              <a:buNone/>
            </a:pPr>
            <a:r>
              <a:rPr lang="en-US" sz="900" dirty="0">
                <a:solidFill>
                  <a:srgbClr val="D1D5D8"/>
                </a:solidFill>
                <a:latin typeface="Poppins" pitchFamily="34" charset="0"/>
                <a:ea typeface="Poppins" pitchFamily="34" charset="-122"/>
                <a:cs typeface="Poppins" pitchFamily="34" charset="-120"/>
              </a:rPr>
              <a:t>National Account Manager</a:t>
            </a:r>
            <a:endParaRPr lang="en-US" sz="900" dirty="0"/>
          </a:p>
        </p:txBody>
      </p:sp>
      <p:sp>
        <p:nvSpPr>
          <p:cNvPr id="32" name="Shape 29"/>
          <p:cNvSpPr/>
          <p:nvPr/>
        </p:nvSpPr>
        <p:spPr>
          <a:xfrm>
            <a:off x="3474720" y="3657600"/>
            <a:ext cx="2331720" cy="18288"/>
          </a:xfrm>
          <a:prstGeom prst="rect">
            <a:avLst/>
          </a:prstGeom>
          <a:solidFill>
            <a:srgbClr val="293FE1"/>
          </a:solidFill>
          <a:ln/>
        </p:spPr>
      </p:sp>
      <p:sp>
        <p:nvSpPr>
          <p:cNvPr id="33" name="Text 30"/>
          <p:cNvSpPr/>
          <p:nvPr/>
        </p:nvSpPr>
        <p:spPr>
          <a:xfrm>
            <a:off x="3474720" y="3749040"/>
            <a:ext cx="2331720" cy="27432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Sales Intelligence</a:t>
            </a:r>
            <a:endParaRPr lang="en-US" sz="1000" dirty="0"/>
          </a:p>
        </p:txBody>
      </p:sp>
      <p:sp>
        <p:nvSpPr>
          <p:cNvPr id="34" name="Text 31"/>
          <p:cNvSpPr/>
          <p:nvPr/>
        </p:nvSpPr>
        <p:spPr>
          <a:xfrm>
            <a:off x="3474720" y="4069080"/>
            <a:ext cx="2331720" cy="502920"/>
          </a:xfrm>
          <a:prstGeom prst="rect">
            <a:avLst/>
          </a:prstGeom>
          <a:noFill/>
          <a:ln/>
        </p:spPr>
        <p:txBody>
          <a:bodyPr wrap="square" lIns="0" tIns="0" rIns="0" bIns="0" rtlCol="0" anchor="ctr"/>
          <a:lstStyle/>
          <a:p>
            <a:pPr indent="0" marL="0">
              <a:buNone/>
            </a:pPr>
            <a:r>
              <a:rPr lang="en-US" sz="900" dirty="0">
                <a:solidFill>
                  <a:srgbClr val="D1D5D8"/>
                </a:solidFill>
                <a:latin typeface="Poppins" pitchFamily="34" charset="0"/>
                <a:ea typeface="Poppins" pitchFamily="34" charset="-122"/>
                <a:cs typeface="Poppins" pitchFamily="34" charset="-120"/>
              </a:rPr>
              <a:t>Full story for every buyer meeting</a:t>
            </a:r>
            <a:endParaRPr lang="en-US" sz="900" dirty="0"/>
          </a:p>
        </p:txBody>
      </p:sp>
      <p:sp>
        <p:nvSpPr>
          <p:cNvPr id="35" name="Shape 32"/>
          <p:cNvSpPr/>
          <p:nvPr/>
        </p:nvSpPr>
        <p:spPr>
          <a:xfrm>
            <a:off x="6126480" y="2971800"/>
            <a:ext cx="2606040" cy="1737360"/>
          </a:xfrm>
          <a:prstGeom prst="rect">
            <a:avLst/>
          </a:prstGeom>
          <a:solidFill>
            <a:srgbClr val="2A3145"/>
          </a:solidFill>
          <a:ln/>
        </p:spPr>
      </p:sp>
      <p:sp>
        <p:nvSpPr>
          <p:cNvPr id="36" name="Text 33"/>
          <p:cNvSpPr/>
          <p:nvPr/>
        </p:nvSpPr>
        <p:spPr>
          <a:xfrm>
            <a:off x="6263640" y="3063240"/>
            <a:ext cx="2331720" cy="320040"/>
          </a:xfrm>
          <a:prstGeom prst="rect">
            <a:avLst/>
          </a:prstGeom>
          <a:noFill/>
          <a:ln/>
        </p:spPr>
        <p:txBody>
          <a:bodyPr wrap="square" lIns="0" tIns="0" rIns="0" bIns="0" rtlCol="0" anchor="ctr"/>
          <a:lstStyle/>
          <a:p>
            <a:pPr indent="0" marL="0">
              <a:buNone/>
            </a:pPr>
            <a:r>
              <a:rPr lang="en-US" sz="1600" b="1" dirty="0">
                <a:solidFill>
                  <a:srgbClr val="293FE1"/>
                </a:solidFill>
                <a:latin typeface="Poppins" pitchFamily="34" charset="0"/>
                <a:ea typeface="Poppins" pitchFamily="34" charset="-122"/>
                <a:cs typeface="Poppins" pitchFamily="34" charset="-120"/>
              </a:rPr>
              <a:t>David</a:t>
            </a:r>
            <a:endParaRPr lang="en-US" sz="1600" dirty="0"/>
          </a:p>
        </p:txBody>
      </p:sp>
      <p:sp>
        <p:nvSpPr>
          <p:cNvPr id="37" name="Text 34"/>
          <p:cNvSpPr/>
          <p:nvPr/>
        </p:nvSpPr>
        <p:spPr>
          <a:xfrm>
            <a:off x="6263640" y="3383280"/>
            <a:ext cx="2331720" cy="228600"/>
          </a:xfrm>
          <a:prstGeom prst="rect">
            <a:avLst/>
          </a:prstGeom>
          <a:noFill/>
          <a:ln/>
        </p:spPr>
        <p:txBody>
          <a:bodyPr wrap="square" lIns="0" tIns="0" rIns="0" bIns="0" rtlCol="0" anchor="ctr"/>
          <a:lstStyle/>
          <a:p>
            <a:pPr indent="0" marL="0">
              <a:buNone/>
            </a:pPr>
            <a:r>
              <a:rPr lang="en-US" sz="900" dirty="0">
                <a:solidFill>
                  <a:srgbClr val="D1D5D8"/>
                </a:solidFill>
                <a:latin typeface="Poppins" pitchFamily="34" charset="0"/>
                <a:ea typeface="Poppins" pitchFamily="34" charset="-122"/>
                <a:cs typeface="Poppins" pitchFamily="34" charset="-120"/>
              </a:rPr>
              <a:t>Head of Procurement</a:t>
            </a:r>
            <a:endParaRPr lang="en-US" sz="900" dirty="0"/>
          </a:p>
        </p:txBody>
      </p:sp>
      <p:sp>
        <p:nvSpPr>
          <p:cNvPr id="38" name="Shape 35"/>
          <p:cNvSpPr/>
          <p:nvPr/>
        </p:nvSpPr>
        <p:spPr>
          <a:xfrm>
            <a:off x="6263640" y="3657600"/>
            <a:ext cx="2331720" cy="18288"/>
          </a:xfrm>
          <a:prstGeom prst="rect">
            <a:avLst/>
          </a:prstGeom>
          <a:solidFill>
            <a:srgbClr val="293FE1"/>
          </a:solidFill>
          <a:ln/>
        </p:spPr>
      </p:sp>
      <p:sp>
        <p:nvSpPr>
          <p:cNvPr id="39" name="Text 36"/>
          <p:cNvSpPr/>
          <p:nvPr/>
        </p:nvSpPr>
        <p:spPr>
          <a:xfrm>
            <a:off x="6263640" y="3749040"/>
            <a:ext cx="2331720" cy="274320"/>
          </a:xfrm>
          <a:prstGeom prst="rect">
            <a:avLst/>
          </a:prstGeom>
          <a:noFill/>
          <a:ln/>
        </p:spPr>
        <p:txBody>
          <a:bodyPr wrap="square" lIns="0" tIns="0" rIns="0" bIns="0" rtlCol="0" anchor="ctr"/>
          <a:lstStyle/>
          <a:p>
            <a:pPr indent="0" marL="0">
              <a:buNone/>
            </a:pPr>
            <a:r>
              <a:rPr lang="en-US" sz="1000" b="1" dirty="0">
                <a:solidFill>
                  <a:srgbClr val="FFFFFF"/>
                </a:solidFill>
                <a:latin typeface="Poppins" pitchFamily="34" charset="0"/>
                <a:ea typeface="Poppins" pitchFamily="34" charset="-122"/>
                <a:cs typeface="Poppins" pitchFamily="34" charset="-120"/>
              </a:rPr>
              <a:t>Procurement Intelligence</a:t>
            </a:r>
            <a:endParaRPr lang="en-US" sz="1000" dirty="0"/>
          </a:p>
        </p:txBody>
      </p:sp>
      <p:sp>
        <p:nvSpPr>
          <p:cNvPr id="40" name="Text 37"/>
          <p:cNvSpPr/>
          <p:nvPr/>
        </p:nvSpPr>
        <p:spPr>
          <a:xfrm>
            <a:off x="6263640" y="4069080"/>
            <a:ext cx="2331720" cy="502920"/>
          </a:xfrm>
          <a:prstGeom prst="rect">
            <a:avLst/>
          </a:prstGeom>
          <a:noFill/>
          <a:ln/>
        </p:spPr>
        <p:txBody>
          <a:bodyPr wrap="square" lIns="0" tIns="0" rIns="0" bIns="0" rtlCol="0" anchor="ctr"/>
          <a:lstStyle/>
          <a:p>
            <a:pPr indent="0" marL="0">
              <a:buNone/>
            </a:pPr>
            <a:r>
              <a:rPr lang="en-US" sz="900" dirty="0">
                <a:solidFill>
                  <a:srgbClr val="D1D5D8"/>
                </a:solidFill>
                <a:latin typeface="Poppins" pitchFamily="34" charset="0"/>
                <a:ea typeface="Poppins" pitchFamily="34" charset="-122"/>
                <a:cs typeface="Poppins" pitchFamily="34" charset="-120"/>
              </a:rPr>
              <a:t>One contract, 30% lower TCO</a:t>
            </a:r>
            <a:endParaRPr lang="en-US" sz="900" dirty="0"/>
          </a:p>
        </p:txBody>
      </p:sp>
      <p:sp>
        <p:nvSpPr>
          <p:cNvPr id="41" name="Text 38"/>
          <p:cNvSpPr/>
          <p:nvPr/>
        </p:nvSpPr>
        <p:spPr>
          <a:xfrm>
            <a:off x="0" y="4709160"/>
            <a:ext cx="9144000" cy="320040"/>
          </a:xfrm>
          <a:prstGeom prst="rect">
            <a:avLst/>
          </a:prstGeom>
          <a:noFill/>
          <a:ln/>
        </p:spPr>
        <p:txBody>
          <a:bodyPr wrap="square" rtlCol="0" anchor="ctr"/>
          <a:lstStyle/>
          <a:p>
            <a:pPr algn="ctr" indent="0" marL="0">
              <a:buNone/>
            </a:pPr>
            <a:r>
              <a:rPr lang="en-US" sz="800" dirty="0">
                <a:solidFill>
                  <a:srgbClr val="676B75"/>
                </a:solidFill>
                <a:latin typeface="Poppins" pitchFamily="34" charset="0"/>
                <a:ea typeface="Poppins" pitchFamily="34" charset="-122"/>
                <a:cs typeface="Poppins" pitchFamily="34" charset="-120"/>
              </a:rPr>
              <a:t>globaldata.com</a:t>
            </a:r>
            <a:endParaRPr lang="en-US" sz="800" dirty="0"/>
          </a:p>
        </p:txBody>
      </p:sp>
      <p:sp>
        <p:nvSpPr>
          <p:cNvPr id="42" name="Text 39"/>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676B75"/>
                </a:solidFill>
                <a:latin typeface="Poppins" pitchFamily="34" charset="0"/>
                <a:ea typeface="Poppins" pitchFamily="34" charset="-122"/>
                <a:cs typeface="Poppins"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502920" cy="502920"/>
          </a:xfrm>
          <a:prstGeom prst="rect">
            <a:avLst/>
          </a:prstGeom>
        </p:spPr>
      </p:pic>
      <p:sp>
        <p:nvSpPr>
          <p:cNvPr id="3" name="Text 0"/>
          <p:cNvSpPr/>
          <p:nvPr/>
        </p:nvSpPr>
        <p:spPr>
          <a:xfrm>
            <a:off x="548640" y="274320"/>
            <a:ext cx="7315200" cy="457200"/>
          </a:xfrm>
          <a:prstGeom prst="rect">
            <a:avLst/>
          </a:prstGeom>
          <a:noFill/>
          <a:ln/>
        </p:spPr>
        <p:txBody>
          <a:bodyPr wrap="square" rtlCol="0" anchor="ctr"/>
          <a:lstStyle/>
          <a:p>
            <a:pPr indent="0" marL="0">
              <a:buNone/>
            </a:pPr>
            <a:r>
              <a:rPr lang="en-US" sz="2400" b="1" dirty="0">
                <a:solidFill>
                  <a:srgbClr val="242528"/>
                </a:solidFill>
                <a:latin typeface="Poppins" pitchFamily="34" charset="0"/>
                <a:ea typeface="Poppins" pitchFamily="34" charset="-122"/>
                <a:cs typeface="Poppins" pitchFamily="34" charset="-120"/>
              </a:rPr>
              <a:t>The Connected Decision</a:t>
            </a:r>
            <a:endParaRPr lang="en-US" sz="2400" dirty="0"/>
          </a:p>
        </p:txBody>
      </p:sp>
      <p:sp>
        <p:nvSpPr>
          <p:cNvPr id="4" name="Text 1"/>
          <p:cNvSpPr/>
          <p:nvPr/>
        </p:nvSpPr>
        <p:spPr>
          <a:xfrm>
            <a:off x="548640" y="777240"/>
            <a:ext cx="7772400" cy="320040"/>
          </a:xfrm>
          <a:prstGeom prst="rect">
            <a:avLst/>
          </a:prstGeom>
          <a:noFill/>
          <a:ln/>
        </p:spPr>
        <p:txBody>
          <a:bodyPr wrap="square" rtlCol="0" anchor="ctr"/>
          <a:lstStyle/>
          <a:p>
            <a:pPr indent="0" marL="0">
              <a:buNone/>
            </a:pPr>
            <a:r>
              <a:rPr lang="en-US" sz="1200" i="1" dirty="0">
                <a:solidFill>
                  <a:srgbClr val="293FE1"/>
                </a:solidFill>
                <a:latin typeface="Poppins" pitchFamily="34" charset="0"/>
                <a:ea typeface="Poppins" pitchFamily="34" charset="-122"/>
                <a:cs typeface="Poppins" pitchFamily="34" charset="-120"/>
              </a:rPr>
              <a:t>"Should we launch plant-based snacking in Southeast Asia?"</a:t>
            </a:r>
            <a:endParaRPr lang="en-US" sz="1200" dirty="0"/>
          </a:p>
        </p:txBody>
      </p:sp>
      <p:sp>
        <p:nvSpPr>
          <p:cNvPr id="5" name="Shape 2"/>
          <p:cNvSpPr/>
          <p:nvPr/>
        </p:nvSpPr>
        <p:spPr>
          <a:xfrm>
            <a:off x="274320" y="1325880"/>
            <a:ext cx="1627632" cy="3108960"/>
          </a:xfrm>
          <a:prstGeom prst="rect">
            <a:avLst/>
          </a:prstGeom>
          <a:solidFill>
            <a:srgbClr val="E8EEFF"/>
          </a:solidFill>
          <a:ln/>
        </p:spPr>
      </p:sp>
      <p:sp>
        <p:nvSpPr>
          <p:cNvPr id="6" name="Text 3"/>
          <p:cNvSpPr/>
          <p:nvPr/>
        </p:nvSpPr>
        <p:spPr>
          <a:xfrm>
            <a:off x="274320" y="1417320"/>
            <a:ext cx="1627632" cy="320040"/>
          </a:xfrm>
          <a:prstGeom prst="rect">
            <a:avLst/>
          </a:prstGeom>
          <a:noFill/>
          <a:ln/>
        </p:spPr>
        <p:txBody>
          <a:bodyPr wrap="square" rtlCol="0" anchor="ctr"/>
          <a:lstStyle/>
          <a:p>
            <a:pPr algn="ctr" indent="0" marL="0">
              <a:buNone/>
            </a:pPr>
            <a:r>
              <a:rPr lang="en-US" sz="1400" b="1" dirty="0">
                <a:solidFill>
                  <a:srgbClr val="242528"/>
                </a:solidFill>
                <a:latin typeface="Poppins" pitchFamily="34" charset="0"/>
                <a:ea typeface="Poppins" pitchFamily="34" charset="-122"/>
                <a:cs typeface="Poppins" pitchFamily="34" charset="-120"/>
              </a:rPr>
              <a:t>Sarah</a:t>
            </a:r>
            <a:endParaRPr lang="en-US" sz="1400" dirty="0"/>
          </a:p>
        </p:txBody>
      </p:sp>
      <p:sp>
        <p:nvSpPr>
          <p:cNvPr id="7" name="Shape 4"/>
          <p:cNvSpPr/>
          <p:nvPr/>
        </p:nvSpPr>
        <p:spPr>
          <a:xfrm>
            <a:off x="548640" y="1783080"/>
            <a:ext cx="1078992" cy="27432"/>
          </a:xfrm>
          <a:prstGeom prst="rect">
            <a:avLst/>
          </a:prstGeom>
          <a:solidFill>
            <a:srgbClr val="293FE1"/>
          </a:solidFill>
          <a:ln/>
        </p:spPr>
      </p:sp>
      <p:sp>
        <p:nvSpPr>
          <p:cNvPr id="8" name="Text 5"/>
          <p:cNvSpPr/>
          <p:nvPr/>
        </p:nvSpPr>
        <p:spPr>
          <a:xfrm>
            <a:off x="365760" y="1920240"/>
            <a:ext cx="1444752" cy="2286000"/>
          </a:xfrm>
          <a:prstGeom prst="rect">
            <a:avLst/>
          </a:prstGeom>
          <a:noFill/>
          <a:ln/>
        </p:spPr>
        <p:txBody>
          <a:bodyPr wrap="square" rtlCol="0" anchor="t"/>
          <a:lstStyle/>
          <a:p>
            <a:pPr indent="0" marL="0">
              <a:buNone/>
            </a:pPr>
            <a:r>
              <a:rPr lang="en-US" sz="900" dirty="0">
                <a:solidFill>
                  <a:srgbClr val="242528"/>
                </a:solidFill>
                <a:latin typeface="Poppins" pitchFamily="34" charset="0"/>
                <a:ea typeface="Poppins" pitchFamily="34" charset="-122"/>
                <a:cs typeface="Poppins" pitchFamily="34" charset="-120"/>
              </a:rPr>
              <a:t>Convergence score: 92/100</a:t>
            </a:r>
            <a:endParaRPr lang="en-US" sz="900" dirty="0"/>
          </a:p>
          <a:p>
            <a:pPr indent="0" marL="0">
              <a:buNone/>
            </a:pPr>
            <a:r>
              <a:rPr lang="en-US" sz="900" dirty="0">
                <a:solidFill>
                  <a:srgbClr val="242528"/>
                </a:solidFill>
                <a:latin typeface="Poppins" pitchFamily="34" charset="0"/>
                <a:ea typeface="Poppins" pitchFamily="34" charset="-122"/>
                <a:cs typeface="Poppins" pitchFamily="34" charset="-120"/>
              </a:rPr>
              <a:t>4 micro signals accelerating</a:t>
            </a:r>
            <a:endParaRPr lang="en-US" sz="900" dirty="0"/>
          </a:p>
        </p:txBody>
      </p:sp>
      <p:sp>
        <p:nvSpPr>
          <p:cNvPr id="9" name="Text 6"/>
          <p:cNvSpPr/>
          <p:nvPr/>
        </p:nvSpPr>
        <p:spPr>
          <a:xfrm>
            <a:off x="1847088" y="2560320"/>
            <a:ext cx="274320" cy="274320"/>
          </a:xfrm>
          <a:prstGeom prst="rect">
            <a:avLst/>
          </a:prstGeom>
          <a:noFill/>
          <a:ln/>
        </p:spPr>
        <p:txBody>
          <a:bodyPr wrap="square" rtlCol="0" anchor="ctr"/>
          <a:lstStyle/>
          <a:p>
            <a:pPr algn="ctr" indent="0" marL="0">
              <a:buNone/>
            </a:pPr>
            <a:r>
              <a:rPr lang="en-US" sz="1600" dirty="0">
                <a:solidFill>
                  <a:srgbClr val="293FE1"/>
                </a:solidFill>
                <a:latin typeface="Poppins" pitchFamily="34" charset="0"/>
                <a:ea typeface="Poppins" pitchFamily="34" charset="-122"/>
                <a:cs typeface="Poppins" pitchFamily="34" charset="-120"/>
              </a:rPr>
              <a:t>→</a:t>
            </a:r>
            <a:endParaRPr lang="en-US" sz="1600" dirty="0"/>
          </a:p>
        </p:txBody>
      </p:sp>
      <p:sp>
        <p:nvSpPr>
          <p:cNvPr id="10" name="Shape 7"/>
          <p:cNvSpPr/>
          <p:nvPr/>
        </p:nvSpPr>
        <p:spPr>
          <a:xfrm>
            <a:off x="2029968" y="1325880"/>
            <a:ext cx="1627632" cy="3108960"/>
          </a:xfrm>
          <a:prstGeom prst="rect">
            <a:avLst/>
          </a:prstGeom>
          <a:solidFill>
            <a:srgbClr val="FFF8E8"/>
          </a:solidFill>
          <a:ln/>
        </p:spPr>
      </p:sp>
      <p:sp>
        <p:nvSpPr>
          <p:cNvPr id="11" name="Text 8"/>
          <p:cNvSpPr/>
          <p:nvPr/>
        </p:nvSpPr>
        <p:spPr>
          <a:xfrm>
            <a:off x="2029968" y="1417320"/>
            <a:ext cx="1627632" cy="320040"/>
          </a:xfrm>
          <a:prstGeom prst="rect">
            <a:avLst/>
          </a:prstGeom>
          <a:noFill/>
          <a:ln/>
        </p:spPr>
        <p:txBody>
          <a:bodyPr wrap="square" rtlCol="0" anchor="ctr"/>
          <a:lstStyle/>
          <a:p>
            <a:pPr algn="ctr" indent="0" marL="0">
              <a:buNone/>
            </a:pPr>
            <a:r>
              <a:rPr lang="en-US" sz="1400" b="1" dirty="0">
                <a:solidFill>
                  <a:srgbClr val="242528"/>
                </a:solidFill>
                <a:latin typeface="Poppins" pitchFamily="34" charset="0"/>
                <a:ea typeface="Poppins" pitchFamily="34" charset="-122"/>
                <a:cs typeface="Poppins" pitchFamily="34" charset="-120"/>
              </a:rPr>
              <a:t>James</a:t>
            </a:r>
            <a:endParaRPr lang="en-US" sz="1400" dirty="0"/>
          </a:p>
        </p:txBody>
      </p:sp>
      <p:sp>
        <p:nvSpPr>
          <p:cNvPr id="12" name="Shape 9"/>
          <p:cNvSpPr/>
          <p:nvPr/>
        </p:nvSpPr>
        <p:spPr>
          <a:xfrm>
            <a:off x="2304288" y="1783080"/>
            <a:ext cx="1078992" cy="27432"/>
          </a:xfrm>
          <a:prstGeom prst="rect">
            <a:avLst/>
          </a:prstGeom>
          <a:solidFill>
            <a:srgbClr val="293FE1"/>
          </a:solidFill>
          <a:ln/>
        </p:spPr>
      </p:sp>
      <p:sp>
        <p:nvSpPr>
          <p:cNvPr id="13" name="Text 10"/>
          <p:cNvSpPr/>
          <p:nvPr/>
        </p:nvSpPr>
        <p:spPr>
          <a:xfrm>
            <a:off x="2121408" y="1920240"/>
            <a:ext cx="1444752" cy="2286000"/>
          </a:xfrm>
          <a:prstGeom prst="rect">
            <a:avLst/>
          </a:prstGeom>
          <a:noFill/>
          <a:ln/>
        </p:spPr>
        <p:txBody>
          <a:bodyPr wrap="square" rtlCol="0" anchor="t"/>
          <a:lstStyle/>
          <a:p>
            <a:pPr indent="0" marL="0">
              <a:buNone/>
            </a:pPr>
            <a:r>
              <a:rPr lang="en-US" sz="900" dirty="0">
                <a:solidFill>
                  <a:srgbClr val="242528"/>
                </a:solidFill>
                <a:latin typeface="Poppins" pitchFamily="34" charset="0"/>
                <a:ea typeface="Poppins" pitchFamily="34" charset="-122"/>
                <a:cs typeface="Poppins" pitchFamily="34" charset="-120"/>
              </a:rPr>
              <a:t>SE Asia: $820M</a:t>
            </a:r>
            <a:endParaRPr lang="en-US" sz="900" dirty="0"/>
          </a:p>
          <a:p>
            <a:pPr indent="0" marL="0">
              <a:buNone/>
            </a:pPr>
            <a:r>
              <a:rPr lang="en-US" sz="900" dirty="0">
                <a:solidFill>
                  <a:srgbClr val="242528"/>
                </a:solidFill>
                <a:latin typeface="Poppins" pitchFamily="34" charset="0"/>
                <a:ea typeface="Poppins" pitchFamily="34" charset="-122"/>
                <a:cs typeface="Poppins" pitchFamily="34" charset="-120"/>
              </a:rPr>
              <a:t>Growing at 14%</a:t>
            </a:r>
            <a:endParaRPr lang="en-US" sz="900" dirty="0"/>
          </a:p>
          <a:p>
            <a:pPr indent="0" marL="0">
              <a:buNone/>
            </a:pPr>
            <a:r>
              <a:rPr lang="en-US" sz="900" dirty="0">
                <a:solidFill>
                  <a:srgbClr val="242528"/>
                </a:solidFill>
                <a:latin typeface="Poppins" pitchFamily="34" charset="0"/>
                <a:ea typeface="Poppins" pitchFamily="34" charset="-122"/>
                <a:cs typeface="Poppins" pitchFamily="34" charset="-120"/>
              </a:rPr>
              <a:t>42% unaddressed</a:t>
            </a:r>
            <a:endParaRPr lang="en-US" sz="900" dirty="0"/>
          </a:p>
        </p:txBody>
      </p:sp>
      <p:sp>
        <p:nvSpPr>
          <p:cNvPr id="14" name="Text 11"/>
          <p:cNvSpPr/>
          <p:nvPr/>
        </p:nvSpPr>
        <p:spPr>
          <a:xfrm>
            <a:off x="3602736" y="2560320"/>
            <a:ext cx="274320" cy="274320"/>
          </a:xfrm>
          <a:prstGeom prst="rect">
            <a:avLst/>
          </a:prstGeom>
          <a:noFill/>
          <a:ln/>
        </p:spPr>
        <p:txBody>
          <a:bodyPr wrap="square" rtlCol="0" anchor="ctr"/>
          <a:lstStyle/>
          <a:p>
            <a:pPr algn="ctr" indent="0" marL="0">
              <a:buNone/>
            </a:pPr>
            <a:r>
              <a:rPr lang="en-US" sz="1600" dirty="0">
                <a:solidFill>
                  <a:srgbClr val="293FE1"/>
                </a:solidFill>
                <a:latin typeface="Poppins" pitchFamily="34" charset="0"/>
                <a:ea typeface="Poppins" pitchFamily="34" charset="-122"/>
                <a:cs typeface="Poppins" pitchFamily="34" charset="-120"/>
              </a:rPr>
              <a:t>→</a:t>
            </a:r>
            <a:endParaRPr lang="en-US" sz="1600" dirty="0"/>
          </a:p>
        </p:txBody>
      </p:sp>
      <p:sp>
        <p:nvSpPr>
          <p:cNvPr id="15" name="Shape 12"/>
          <p:cNvSpPr/>
          <p:nvPr/>
        </p:nvSpPr>
        <p:spPr>
          <a:xfrm>
            <a:off x="3785616" y="1325880"/>
            <a:ext cx="1627632" cy="3108960"/>
          </a:xfrm>
          <a:prstGeom prst="rect">
            <a:avLst/>
          </a:prstGeom>
          <a:solidFill>
            <a:srgbClr val="FFE8E8"/>
          </a:solidFill>
          <a:ln/>
        </p:spPr>
      </p:sp>
      <p:sp>
        <p:nvSpPr>
          <p:cNvPr id="16" name="Text 13"/>
          <p:cNvSpPr/>
          <p:nvPr/>
        </p:nvSpPr>
        <p:spPr>
          <a:xfrm>
            <a:off x="3785616" y="1417320"/>
            <a:ext cx="1627632" cy="320040"/>
          </a:xfrm>
          <a:prstGeom prst="rect">
            <a:avLst/>
          </a:prstGeom>
          <a:noFill/>
          <a:ln/>
        </p:spPr>
        <p:txBody>
          <a:bodyPr wrap="square" rtlCol="0" anchor="ctr"/>
          <a:lstStyle/>
          <a:p>
            <a:pPr algn="ctr" indent="0" marL="0">
              <a:buNone/>
            </a:pPr>
            <a:r>
              <a:rPr lang="en-US" sz="1400" b="1" dirty="0">
                <a:solidFill>
                  <a:srgbClr val="242528"/>
                </a:solidFill>
                <a:latin typeface="Poppins" pitchFamily="34" charset="0"/>
                <a:ea typeface="Poppins" pitchFamily="34" charset="-122"/>
                <a:cs typeface="Poppins" pitchFamily="34" charset="-120"/>
              </a:rPr>
              <a:t>Priya</a:t>
            </a:r>
            <a:endParaRPr lang="en-US" sz="1400" dirty="0"/>
          </a:p>
        </p:txBody>
      </p:sp>
      <p:sp>
        <p:nvSpPr>
          <p:cNvPr id="17" name="Shape 14"/>
          <p:cNvSpPr/>
          <p:nvPr/>
        </p:nvSpPr>
        <p:spPr>
          <a:xfrm>
            <a:off x="4059936" y="1783080"/>
            <a:ext cx="1078992" cy="27432"/>
          </a:xfrm>
          <a:prstGeom prst="rect">
            <a:avLst/>
          </a:prstGeom>
          <a:solidFill>
            <a:srgbClr val="293FE1"/>
          </a:solidFill>
          <a:ln/>
        </p:spPr>
      </p:sp>
      <p:sp>
        <p:nvSpPr>
          <p:cNvPr id="18" name="Text 15"/>
          <p:cNvSpPr/>
          <p:nvPr/>
        </p:nvSpPr>
        <p:spPr>
          <a:xfrm>
            <a:off x="3877056" y="1920240"/>
            <a:ext cx="1444752" cy="2286000"/>
          </a:xfrm>
          <a:prstGeom prst="rect">
            <a:avLst/>
          </a:prstGeom>
          <a:noFill/>
          <a:ln/>
        </p:spPr>
        <p:txBody>
          <a:bodyPr wrap="square" rtlCol="0" anchor="t"/>
          <a:lstStyle/>
          <a:p>
            <a:pPr indent="0" marL="0">
              <a:buNone/>
            </a:pPr>
            <a:r>
              <a:rPr lang="en-US" sz="900" dirty="0">
                <a:solidFill>
                  <a:srgbClr val="242528"/>
                </a:solidFill>
                <a:latin typeface="Poppins" pitchFamily="34" charset="0"/>
                <a:ea typeface="Poppins" pitchFamily="34" charset="-122"/>
                <a:cs typeface="Poppins" pitchFamily="34" charset="-120"/>
              </a:rPr>
              <a:t>Rival: 4 patents filed</a:t>
            </a:r>
            <a:endParaRPr lang="en-US" sz="900" dirty="0"/>
          </a:p>
          <a:p>
            <a:pPr indent="0" marL="0">
              <a:buNone/>
            </a:pPr>
            <a:r>
              <a:rPr lang="en-US" sz="900" dirty="0">
                <a:solidFill>
                  <a:srgbClr val="242528"/>
                </a:solidFill>
                <a:latin typeface="Poppins" pitchFamily="34" charset="0"/>
                <a:ea typeface="Poppins" pitchFamily="34" charset="-122"/>
                <a:cs typeface="Poppins" pitchFamily="34" charset="-120"/>
              </a:rPr>
              <a:t>Hiring regional supply chain</a:t>
            </a:r>
            <a:endParaRPr lang="en-US" sz="900" dirty="0"/>
          </a:p>
          <a:p>
            <a:pPr indent="0" marL="0">
              <a:buNone/>
            </a:pPr>
            <a:r>
              <a:rPr lang="en-US" sz="900" dirty="0">
                <a:solidFill>
                  <a:srgbClr val="242528"/>
                </a:solidFill>
                <a:latin typeface="Poppins" pitchFamily="34" charset="0"/>
                <a:ea typeface="Poppins" pitchFamily="34" charset="-122"/>
                <a:cs typeface="Poppins" pitchFamily="34" charset="-120"/>
              </a:rPr>
              <a:t>Threat: High</a:t>
            </a:r>
            <a:endParaRPr lang="en-US" sz="900" dirty="0"/>
          </a:p>
        </p:txBody>
      </p:sp>
      <p:sp>
        <p:nvSpPr>
          <p:cNvPr id="19" name="Text 16"/>
          <p:cNvSpPr/>
          <p:nvPr/>
        </p:nvSpPr>
        <p:spPr>
          <a:xfrm>
            <a:off x="5358384" y="2560320"/>
            <a:ext cx="274320" cy="274320"/>
          </a:xfrm>
          <a:prstGeom prst="rect">
            <a:avLst/>
          </a:prstGeom>
          <a:noFill/>
          <a:ln/>
        </p:spPr>
        <p:txBody>
          <a:bodyPr wrap="square" rtlCol="0" anchor="ctr"/>
          <a:lstStyle/>
          <a:p>
            <a:pPr algn="ctr" indent="0" marL="0">
              <a:buNone/>
            </a:pPr>
            <a:r>
              <a:rPr lang="en-US" sz="1600" dirty="0">
                <a:solidFill>
                  <a:srgbClr val="293FE1"/>
                </a:solidFill>
                <a:latin typeface="Poppins" pitchFamily="34" charset="0"/>
                <a:ea typeface="Poppins" pitchFamily="34" charset="-122"/>
                <a:cs typeface="Poppins" pitchFamily="34" charset="-120"/>
              </a:rPr>
              <a:t>→</a:t>
            </a:r>
            <a:endParaRPr lang="en-US" sz="1600" dirty="0"/>
          </a:p>
        </p:txBody>
      </p:sp>
      <p:sp>
        <p:nvSpPr>
          <p:cNvPr id="20" name="Shape 17"/>
          <p:cNvSpPr/>
          <p:nvPr/>
        </p:nvSpPr>
        <p:spPr>
          <a:xfrm>
            <a:off x="5541264" y="1325880"/>
            <a:ext cx="1627632" cy="3108960"/>
          </a:xfrm>
          <a:prstGeom prst="rect">
            <a:avLst/>
          </a:prstGeom>
          <a:solidFill>
            <a:srgbClr val="E8FFE8"/>
          </a:solidFill>
          <a:ln/>
        </p:spPr>
      </p:sp>
      <p:sp>
        <p:nvSpPr>
          <p:cNvPr id="21" name="Text 18"/>
          <p:cNvSpPr/>
          <p:nvPr/>
        </p:nvSpPr>
        <p:spPr>
          <a:xfrm>
            <a:off x="5541264" y="1417320"/>
            <a:ext cx="1627632" cy="320040"/>
          </a:xfrm>
          <a:prstGeom prst="rect">
            <a:avLst/>
          </a:prstGeom>
          <a:noFill/>
          <a:ln/>
        </p:spPr>
        <p:txBody>
          <a:bodyPr wrap="square" rtlCol="0" anchor="ctr"/>
          <a:lstStyle/>
          <a:p>
            <a:pPr algn="ctr" indent="0" marL="0">
              <a:buNone/>
            </a:pPr>
            <a:r>
              <a:rPr lang="en-US" sz="1400" b="1" dirty="0">
                <a:solidFill>
                  <a:srgbClr val="242528"/>
                </a:solidFill>
                <a:latin typeface="Poppins" pitchFamily="34" charset="0"/>
                <a:ea typeface="Poppins" pitchFamily="34" charset="-122"/>
                <a:cs typeface="Poppins" pitchFamily="34" charset="-120"/>
              </a:rPr>
              <a:t>Marcus</a:t>
            </a:r>
            <a:endParaRPr lang="en-US" sz="1400" dirty="0"/>
          </a:p>
        </p:txBody>
      </p:sp>
      <p:sp>
        <p:nvSpPr>
          <p:cNvPr id="22" name="Shape 19"/>
          <p:cNvSpPr/>
          <p:nvPr/>
        </p:nvSpPr>
        <p:spPr>
          <a:xfrm>
            <a:off x="5815584" y="1783080"/>
            <a:ext cx="1078992" cy="27432"/>
          </a:xfrm>
          <a:prstGeom prst="rect">
            <a:avLst/>
          </a:prstGeom>
          <a:solidFill>
            <a:srgbClr val="293FE1"/>
          </a:solidFill>
          <a:ln/>
        </p:spPr>
      </p:sp>
      <p:sp>
        <p:nvSpPr>
          <p:cNvPr id="23" name="Text 20"/>
          <p:cNvSpPr/>
          <p:nvPr/>
        </p:nvSpPr>
        <p:spPr>
          <a:xfrm>
            <a:off x="5632704" y="1920240"/>
            <a:ext cx="1444752" cy="2286000"/>
          </a:xfrm>
          <a:prstGeom prst="rect">
            <a:avLst/>
          </a:prstGeom>
          <a:noFill/>
          <a:ln/>
        </p:spPr>
        <p:txBody>
          <a:bodyPr wrap="square" rtlCol="0" anchor="t"/>
          <a:lstStyle/>
          <a:p>
            <a:pPr indent="0" marL="0">
              <a:buNone/>
            </a:pPr>
            <a:r>
              <a:rPr lang="en-US" sz="900" dirty="0">
                <a:solidFill>
                  <a:srgbClr val="242528"/>
                </a:solidFill>
                <a:latin typeface="Poppins" pitchFamily="34" charset="0"/>
                <a:ea typeface="Poppins" pitchFamily="34" charset="-122"/>
                <a:cs typeface="Poppins" pitchFamily="34" charset="-120"/>
              </a:rPr>
              <a:t>3 of 5 concepts pass</a:t>
            </a:r>
            <a:endParaRPr lang="en-US" sz="900" dirty="0"/>
          </a:p>
          <a:p>
            <a:pPr indent="0" marL="0">
              <a:buNone/>
            </a:pPr>
            <a:r>
              <a:rPr lang="en-US" sz="900" dirty="0">
                <a:solidFill>
                  <a:srgbClr val="242528"/>
                </a:solidFill>
                <a:latin typeface="Poppins" pitchFamily="34" charset="0"/>
                <a:ea typeface="Poppins" pitchFamily="34" charset="-122"/>
                <a:cs typeface="Poppins" pitchFamily="34" charset="-120"/>
              </a:rPr>
              <a:t>Crispy Bites scores 87</a:t>
            </a:r>
            <a:endParaRPr lang="en-US" sz="900" dirty="0"/>
          </a:p>
          <a:p>
            <a:pPr indent="0" marL="0">
              <a:buNone/>
            </a:pPr>
            <a:r>
              <a:rPr lang="en-US" sz="900" dirty="0">
                <a:solidFill>
                  <a:srgbClr val="242528"/>
                </a:solidFill>
                <a:latin typeface="Poppins" pitchFamily="34" charset="0"/>
                <a:ea typeface="Poppins" pitchFamily="34" charset="-122"/>
                <a:cs typeface="Poppins" pitchFamily="34" charset="-120"/>
              </a:rPr>
              <a:t>Evidence-based</a:t>
            </a:r>
            <a:endParaRPr lang="en-US" sz="900" dirty="0"/>
          </a:p>
        </p:txBody>
      </p:sp>
      <p:sp>
        <p:nvSpPr>
          <p:cNvPr id="24" name="Text 21"/>
          <p:cNvSpPr/>
          <p:nvPr/>
        </p:nvSpPr>
        <p:spPr>
          <a:xfrm>
            <a:off x="7114032" y="2560320"/>
            <a:ext cx="274320" cy="274320"/>
          </a:xfrm>
          <a:prstGeom prst="rect">
            <a:avLst/>
          </a:prstGeom>
          <a:noFill/>
          <a:ln/>
        </p:spPr>
        <p:txBody>
          <a:bodyPr wrap="square" rtlCol="0" anchor="ctr"/>
          <a:lstStyle/>
          <a:p>
            <a:pPr algn="ctr" indent="0" marL="0">
              <a:buNone/>
            </a:pPr>
            <a:r>
              <a:rPr lang="en-US" sz="1600" dirty="0">
                <a:solidFill>
                  <a:srgbClr val="293FE1"/>
                </a:solidFill>
                <a:latin typeface="Poppins" pitchFamily="34" charset="0"/>
                <a:ea typeface="Poppins" pitchFamily="34" charset="-122"/>
                <a:cs typeface="Poppins" pitchFamily="34" charset="-120"/>
              </a:rPr>
              <a:t>→</a:t>
            </a:r>
            <a:endParaRPr lang="en-US" sz="1600" dirty="0"/>
          </a:p>
        </p:txBody>
      </p:sp>
      <p:sp>
        <p:nvSpPr>
          <p:cNvPr id="25" name="Shape 22"/>
          <p:cNvSpPr/>
          <p:nvPr/>
        </p:nvSpPr>
        <p:spPr>
          <a:xfrm>
            <a:off x="7296912" y="1325880"/>
            <a:ext cx="1627632" cy="3108960"/>
          </a:xfrm>
          <a:prstGeom prst="rect">
            <a:avLst/>
          </a:prstGeom>
          <a:solidFill>
            <a:srgbClr val="F0E8FF"/>
          </a:solidFill>
          <a:ln/>
        </p:spPr>
      </p:sp>
      <p:sp>
        <p:nvSpPr>
          <p:cNvPr id="26" name="Text 23"/>
          <p:cNvSpPr/>
          <p:nvPr/>
        </p:nvSpPr>
        <p:spPr>
          <a:xfrm>
            <a:off x="7296912" y="1417320"/>
            <a:ext cx="1627632" cy="320040"/>
          </a:xfrm>
          <a:prstGeom prst="rect">
            <a:avLst/>
          </a:prstGeom>
          <a:noFill/>
          <a:ln/>
        </p:spPr>
        <p:txBody>
          <a:bodyPr wrap="square" rtlCol="0" anchor="ctr"/>
          <a:lstStyle/>
          <a:p>
            <a:pPr algn="ctr" indent="0" marL="0">
              <a:buNone/>
            </a:pPr>
            <a:r>
              <a:rPr lang="en-US" sz="1400" b="1" dirty="0">
                <a:solidFill>
                  <a:srgbClr val="242528"/>
                </a:solidFill>
                <a:latin typeface="Poppins" pitchFamily="34" charset="0"/>
                <a:ea typeface="Poppins" pitchFamily="34" charset="-122"/>
                <a:cs typeface="Poppins" pitchFamily="34" charset="-120"/>
              </a:rPr>
              <a:t>Elena</a:t>
            </a:r>
            <a:endParaRPr lang="en-US" sz="1400" dirty="0"/>
          </a:p>
        </p:txBody>
      </p:sp>
      <p:sp>
        <p:nvSpPr>
          <p:cNvPr id="27" name="Shape 24"/>
          <p:cNvSpPr/>
          <p:nvPr/>
        </p:nvSpPr>
        <p:spPr>
          <a:xfrm>
            <a:off x="7571232" y="1783080"/>
            <a:ext cx="1078992" cy="27432"/>
          </a:xfrm>
          <a:prstGeom prst="rect">
            <a:avLst/>
          </a:prstGeom>
          <a:solidFill>
            <a:srgbClr val="293FE1"/>
          </a:solidFill>
          <a:ln/>
        </p:spPr>
      </p:sp>
      <p:sp>
        <p:nvSpPr>
          <p:cNvPr id="28" name="Text 25"/>
          <p:cNvSpPr/>
          <p:nvPr/>
        </p:nvSpPr>
        <p:spPr>
          <a:xfrm>
            <a:off x="7388352" y="1920240"/>
            <a:ext cx="1444752" cy="2286000"/>
          </a:xfrm>
          <a:prstGeom prst="rect">
            <a:avLst/>
          </a:prstGeom>
          <a:noFill/>
          <a:ln/>
        </p:spPr>
        <p:txBody>
          <a:bodyPr wrap="square" rtlCol="0" anchor="t"/>
          <a:lstStyle/>
          <a:p>
            <a:pPr indent="0" marL="0">
              <a:buNone/>
            </a:pPr>
            <a:r>
              <a:rPr lang="en-US" sz="900" dirty="0">
                <a:solidFill>
                  <a:srgbClr val="242528"/>
                </a:solidFill>
                <a:latin typeface="Poppins" pitchFamily="34" charset="0"/>
                <a:ea typeface="Poppins" pitchFamily="34" charset="-122"/>
                <a:cs typeface="Poppins" pitchFamily="34" charset="-120"/>
              </a:rPr>
              <a:t>12% shelf space available</a:t>
            </a:r>
            <a:endParaRPr lang="en-US" sz="900" dirty="0"/>
          </a:p>
          <a:p>
            <a:pPr indent="0" marL="0">
              <a:buNone/>
            </a:pPr>
            <a:r>
              <a:rPr lang="en-US" sz="900" dirty="0">
                <a:solidFill>
                  <a:srgbClr val="242528"/>
                </a:solidFill>
                <a:latin typeface="Poppins" pitchFamily="34" charset="0"/>
                <a:ea typeface="Poppins" pitchFamily="34" charset="-122"/>
                <a:cs typeface="Poppins" pitchFamily="34" charset="-120"/>
              </a:rPr>
              <a:t>2 of 3 retailers ready</a:t>
            </a:r>
            <a:endParaRPr lang="en-US" sz="900" dirty="0"/>
          </a:p>
          <a:p>
            <a:pPr indent="0" marL="0">
              <a:buNone/>
            </a:pPr>
            <a:r>
              <a:rPr lang="en-US" sz="900" dirty="0">
                <a:solidFill>
                  <a:srgbClr val="242528"/>
                </a:solidFill>
                <a:latin typeface="Poppins" pitchFamily="34" charset="0"/>
                <a:ea typeface="Poppins" pitchFamily="34" charset="-122"/>
                <a:cs typeface="Poppins" pitchFamily="34" charset="-120"/>
              </a:rPr>
              <a:t>First-mover advantage</a:t>
            </a:r>
            <a:endParaRPr lang="en-US" sz="900" dirty="0"/>
          </a:p>
        </p:txBody>
      </p:sp>
      <p:sp>
        <p:nvSpPr>
          <p:cNvPr id="29" name="Shape 26"/>
          <p:cNvSpPr/>
          <p:nvPr/>
        </p:nvSpPr>
        <p:spPr>
          <a:xfrm>
            <a:off x="3200400" y="4251960"/>
            <a:ext cx="2743200" cy="411480"/>
          </a:xfrm>
          <a:prstGeom prst="rect">
            <a:avLst/>
          </a:prstGeom>
          <a:solidFill>
            <a:srgbClr val="293FE1"/>
          </a:solidFill>
          <a:ln/>
        </p:spPr>
      </p:sp>
      <p:sp>
        <p:nvSpPr>
          <p:cNvPr id="30" name="Text 27"/>
          <p:cNvSpPr/>
          <p:nvPr/>
        </p:nvSpPr>
        <p:spPr>
          <a:xfrm>
            <a:off x="3200400" y="4251960"/>
            <a:ext cx="2743200" cy="411480"/>
          </a:xfrm>
          <a:prstGeom prst="rect">
            <a:avLst/>
          </a:prstGeom>
          <a:noFill/>
          <a:ln/>
        </p:spPr>
        <p:txBody>
          <a:bodyPr wrap="square" rtlCol="0" anchor="ctr"/>
          <a:lstStyle/>
          <a:p>
            <a:pPr algn="ctr" indent="0" marL="0">
              <a:buNone/>
            </a:pPr>
            <a:r>
              <a:rPr lang="en-US" sz="1000" b="1" dirty="0">
                <a:solidFill>
                  <a:srgbClr val="FFFFFF"/>
                </a:solidFill>
                <a:latin typeface="Poppins" pitchFamily="34" charset="0"/>
                <a:ea typeface="Poppins" pitchFamily="34" charset="-122"/>
                <a:cs typeface="Poppins" pitchFamily="34" charset="-120"/>
              </a:rPr>
              <a:t>ONE PLATFORM  •  ONE MEETING  •  GO</a:t>
            </a:r>
            <a:endParaRPr lang="en-US" sz="1000" dirty="0"/>
          </a:p>
        </p:txBody>
      </p:sp>
      <p:sp>
        <p:nvSpPr>
          <p:cNvPr id="31" name="Text 28"/>
          <p:cNvSpPr/>
          <p:nvPr/>
        </p:nvSpPr>
        <p:spPr>
          <a:xfrm>
            <a:off x="0" y="4709160"/>
            <a:ext cx="9144000" cy="320040"/>
          </a:xfrm>
          <a:prstGeom prst="rect">
            <a:avLst/>
          </a:prstGeom>
          <a:noFill/>
          <a:ln/>
        </p:spPr>
        <p:txBody>
          <a:bodyPr wrap="square" rtlCol="0" anchor="ctr"/>
          <a:lstStyle/>
          <a:p>
            <a:pPr algn="ctr" indent="0" marL="0">
              <a:buNone/>
            </a:pPr>
            <a:r>
              <a:rPr lang="en-US" sz="800" dirty="0">
                <a:solidFill>
                  <a:srgbClr val="676B75"/>
                </a:solidFill>
                <a:latin typeface="Poppins" pitchFamily="34" charset="0"/>
                <a:ea typeface="Poppins" pitchFamily="34" charset="-122"/>
                <a:cs typeface="Poppins" pitchFamily="34" charset="-120"/>
              </a:rPr>
              <a:t>globaldata.com</a:t>
            </a:r>
            <a:endParaRPr lang="en-US" sz="800" dirty="0"/>
          </a:p>
        </p:txBody>
      </p:sp>
      <p:sp>
        <p:nvSpPr>
          <p:cNvPr id="32" name="Text 29"/>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676B75"/>
                </a:solidFill>
                <a:latin typeface="Poppins" pitchFamily="34" charset="0"/>
                <a:ea typeface="Poppins" pitchFamily="34" charset="-122"/>
                <a:cs typeface="Poppins"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502920" cy="502920"/>
          </a:xfrm>
          <a:prstGeom prst="rect">
            <a:avLst/>
          </a:prstGeom>
        </p:spPr>
      </p:pic>
      <p:sp>
        <p:nvSpPr>
          <p:cNvPr id="3"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242528"/>
                </a:solidFill>
                <a:latin typeface="Poppins" pitchFamily="34" charset="0"/>
                <a:ea typeface="Poppins" pitchFamily="34" charset="-122"/>
                <a:cs typeface="Poppins" pitchFamily="34" charset="-120"/>
              </a:rPr>
              <a:t>Teams Transformed</a:t>
            </a:r>
            <a:endParaRPr lang="en-US" sz="2800" dirty="0"/>
          </a:p>
        </p:txBody>
      </p:sp>
      <p:sp>
        <p:nvSpPr>
          <p:cNvPr id="4" name="Shape 1"/>
          <p:cNvSpPr/>
          <p:nvPr/>
        </p:nvSpPr>
        <p:spPr>
          <a:xfrm>
            <a:off x="548640" y="960120"/>
            <a:ext cx="1097280" cy="36576"/>
          </a:xfrm>
          <a:prstGeom prst="rect">
            <a:avLst/>
          </a:prstGeom>
          <a:solidFill>
            <a:srgbClr val="293FE1"/>
          </a:solidFill>
          <a:ln/>
        </p:spPr>
      </p:sp>
      <p:sp>
        <p:nvSpPr>
          <p:cNvPr id="5" name="Text 2"/>
          <p:cNvSpPr/>
          <p:nvPr/>
        </p:nvSpPr>
        <p:spPr>
          <a:xfrm>
            <a:off x="548640" y="1097280"/>
            <a:ext cx="7315200" cy="320040"/>
          </a:xfrm>
          <a:prstGeom prst="rect">
            <a:avLst/>
          </a:prstGeom>
          <a:noFill/>
          <a:ln/>
        </p:spPr>
        <p:txBody>
          <a:bodyPr wrap="square" rtlCol="0" anchor="ctr"/>
          <a:lstStyle/>
          <a:p>
            <a:pPr indent="0" marL="0">
              <a:buNone/>
            </a:pPr>
            <a:r>
              <a:rPr lang="en-US" sz="1300" i="1" dirty="0">
                <a:solidFill>
                  <a:srgbClr val="676B75"/>
                </a:solidFill>
                <a:latin typeface="Poppins" pitchFamily="34" charset="0"/>
                <a:ea typeface="Poppins" pitchFamily="34" charset="-122"/>
                <a:cs typeface="Poppins" pitchFamily="34" charset="-120"/>
              </a:rPr>
              <a:t>From data janitors to strategic advisors</a:t>
            </a:r>
            <a:endParaRPr lang="en-US" sz="1300" dirty="0"/>
          </a:p>
        </p:txBody>
      </p:sp>
      <p:sp>
        <p:nvSpPr>
          <p:cNvPr id="6" name="Shape 3"/>
          <p:cNvSpPr/>
          <p:nvPr/>
        </p:nvSpPr>
        <p:spPr>
          <a:xfrm>
            <a:off x="548640" y="1645920"/>
            <a:ext cx="1920240" cy="1280160"/>
          </a:xfrm>
          <a:prstGeom prst="rect">
            <a:avLst/>
          </a:prstGeom>
          <a:solidFill>
            <a:srgbClr val="FFFFFF"/>
          </a:solidFill>
          <a:ln/>
        </p:spPr>
      </p:sp>
      <p:sp>
        <p:nvSpPr>
          <p:cNvPr id="7" name="Text 4"/>
          <p:cNvSpPr/>
          <p:nvPr/>
        </p:nvSpPr>
        <p:spPr>
          <a:xfrm>
            <a:off x="548640" y="1691640"/>
            <a:ext cx="1920240" cy="228600"/>
          </a:xfrm>
          <a:prstGeom prst="rect">
            <a:avLst/>
          </a:prstGeom>
          <a:noFill/>
          <a:ln/>
        </p:spPr>
        <p:txBody>
          <a:bodyPr wrap="square" rtlCol="0" anchor="ctr"/>
          <a:lstStyle/>
          <a:p>
            <a:pPr algn="ctr" indent="0" marL="0">
              <a:buNone/>
            </a:pPr>
            <a:r>
              <a:rPr lang="en-US" sz="900" dirty="0">
                <a:solidFill>
                  <a:srgbClr val="676B75"/>
                </a:solidFill>
                <a:latin typeface="Poppins" pitchFamily="34" charset="0"/>
                <a:ea typeface="Poppins" pitchFamily="34" charset="-122"/>
                <a:cs typeface="Poppins" pitchFamily="34" charset="-120"/>
              </a:rPr>
              <a:t>Before</a:t>
            </a:r>
            <a:endParaRPr lang="en-US" sz="900" dirty="0"/>
          </a:p>
        </p:txBody>
      </p:sp>
      <p:sp>
        <p:nvSpPr>
          <p:cNvPr id="8" name="Text 5"/>
          <p:cNvSpPr/>
          <p:nvPr/>
        </p:nvSpPr>
        <p:spPr>
          <a:xfrm>
            <a:off x="548640" y="1920240"/>
            <a:ext cx="1920240" cy="457200"/>
          </a:xfrm>
          <a:prstGeom prst="rect">
            <a:avLst/>
          </a:prstGeom>
          <a:noFill/>
          <a:ln/>
        </p:spPr>
        <p:txBody>
          <a:bodyPr wrap="square" rtlCol="0" anchor="ctr"/>
          <a:lstStyle/>
          <a:p>
            <a:pPr algn="ctr" indent="0" marL="0">
              <a:buNone/>
            </a:pPr>
            <a:r>
              <a:rPr lang="en-US" sz="2200" b="1" dirty="0">
                <a:solidFill>
                  <a:srgbClr val="CC3333"/>
                </a:solidFill>
                <a:latin typeface="Poppins" pitchFamily="34" charset="0"/>
                <a:ea typeface="Poppins" pitchFamily="34" charset="-122"/>
                <a:cs typeface="Poppins" pitchFamily="34" charset="-120"/>
              </a:rPr>
              <a:t>10%</a:t>
            </a:r>
            <a:endParaRPr lang="en-US" sz="2200" dirty="0"/>
          </a:p>
        </p:txBody>
      </p:sp>
      <p:sp>
        <p:nvSpPr>
          <p:cNvPr id="9" name="Text 6"/>
          <p:cNvSpPr/>
          <p:nvPr/>
        </p:nvSpPr>
        <p:spPr>
          <a:xfrm>
            <a:off x="548640" y="2331720"/>
            <a:ext cx="1920240" cy="228600"/>
          </a:xfrm>
          <a:prstGeom prst="rect">
            <a:avLst/>
          </a:prstGeom>
          <a:noFill/>
          <a:ln/>
        </p:spPr>
        <p:txBody>
          <a:bodyPr wrap="square" rtlCol="0" anchor="ctr"/>
          <a:lstStyle/>
          <a:p>
            <a:pPr algn="ctr" indent="0" marL="0">
              <a:buNone/>
            </a:pPr>
            <a:r>
              <a:rPr lang="en-US" sz="1400" dirty="0">
                <a:solidFill>
                  <a:srgbClr val="293FE1"/>
                </a:solidFill>
                <a:latin typeface="Poppins" pitchFamily="34" charset="0"/>
                <a:ea typeface="Poppins" pitchFamily="34" charset="-122"/>
                <a:cs typeface="Poppins" pitchFamily="34" charset="-120"/>
              </a:rPr>
              <a:t>↓</a:t>
            </a:r>
            <a:endParaRPr lang="en-US" sz="1400" dirty="0"/>
          </a:p>
        </p:txBody>
      </p:sp>
      <p:sp>
        <p:nvSpPr>
          <p:cNvPr id="10" name="Text 7"/>
          <p:cNvSpPr/>
          <p:nvPr/>
        </p:nvSpPr>
        <p:spPr>
          <a:xfrm>
            <a:off x="548640" y="2514600"/>
            <a:ext cx="1920240" cy="365760"/>
          </a:xfrm>
          <a:prstGeom prst="rect">
            <a:avLst/>
          </a:prstGeom>
          <a:noFill/>
          <a:ln/>
        </p:spPr>
        <p:txBody>
          <a:bodyPr wrap="square" rtlCol="0" anchor="ctr"/>
          <a:lstStyle/>
          <a:p>
            <a:pPr algn="ctr" indent="0" marL="0">
              <a:buNone/>
            </a:pPr>
            <a:r>
              <a:rPr lang="en-US" sz="1800" b="1" dirty="0">
                <a:solidFill>
                  <a:srgbClr val="1A8A3A"/>
                </a:solidFill>
                <a:latin typeface="Poppins" pitchFamily="34" charset="0"/>
                <a:ea typeface="Poppins" pitchFamily="34" charset="-122"/>
                <a:cs typeface="Poppins" pitchFamily="34" charset="-120"/>
              </a:rPr>
              <a:t>75%</a:t>
            </a:r>
            <a:endParaRPr lang="en-US" sz="1800" dirty="0"/>
          </a:p>
        </p:txBody>
      </p:sp>
      <p:sp>
        <p:nvSpPr>
          <p:cNvPr id="11" name="Text 8"/>
          <p:cNvSpPr/>
          <p:nvPr/>
        </p:nvSpPr>
        <p:spPr>
          <a:xfrm>
            <a:off x="548640" y="3108960"/>
            <a:ext cx="1920240" cy="274320"/>
          </a:xfrm>
          <a:prstGeom prst="rect">
            <a:avLst/>
          </a:prstGeom>
          <a:noFill/>
          <a:ln/>
        </p:spPr>
        <p:txBody>
          <a:bodyPr wrap="square" rtlCol="0" anchor="ctr"/>
          <a:lstStyle/>
          <a:p>
            <a:pPr algn="ctr" indent="0" marL="0">
              <a:buNone/>
            </a:pPr>
            <a:r>
              <a:rPr lang="en-US" sz="1000" b="1" dirty="0">
                <a:solidFill>
                  <a:srgbClr val="242528"/>
                </a:solidFill>
                <a:latin typeface="Poppins" pitchFamily="34" charset="0"/>
                <a:ea typeface="Poppins" pitchFamily="34" charset="-122"/>
                <a:cs typeface="Poppins" pitchFamily="34" charset="-120"/>
              </a:rPr>
              <a:t>Strategy Time</a:t>
            </a:r>
            <a:endParaRPr lang="en-US" sz="1000" dirty="0"/>
          </a:p>
        </p:txBody>
      </p:sp>
      <p:sp>
        <p:nvSpPr>
          <p:cNvPr id="12" name="Shape 9"/>
          <p:cNvSpPr/>
          <p:nvPr/>
        </p:nvSpPr>
        <p:spPr>
          <a:xfrm>
            <a:off x="2651760" y="1645920"/>
            <a:ext cx="1920240" cy="1280160"/>
          </a:xfrm>
          <a:prstGeom prst="rect">
            <a:avLst/>
          </a:prstGeom>
          <a:solidFill>
            <a:srgbClr val="FFFFFF"/>
          </a:solidFill>
          <a:ln/>
        </p:spPr>
      </p:sp>
      <p:sp>
        <p:nvSpPr>
          <p:cNvPr id="13" name="Text 10"/>
          <p:cNvSpPr/>
          <p:nvPr/>
        </p:nvSpPr>
        <p:spPr>
          <a:xfrm>
            <a:off x="2651760" y="1691640"/>
            <a:ext cx="1920240" cy="228600"/>
          </a:xfrm>
          <a:prstGeom prst="rect">
            <a:avLst/>
          </a:prstGeom>
          <a:noFill/>
          <a:ln/>
        </p:spPr>
        <p:txBody>
          <a:bodyPr wrap="square" rtlCol="0" anchor="ctr"/>
          <a:lstStyle/>
          <a:p>
            <a:pPr algn="ctr" indent="0" marL="0">
              <a:buNone/>
            </a:pPr>
            <a:r>
              <a:rPr lang="en-US" sz="900" dirty="0">
                <a:solidFill>
                  <a:srgbClr val="676B75"/>
                </a:solidFill>
                <a:latin typeface="Poppins" pitchFamily="34" charset="0"/>
                <a:ea typeface="Poppins" pitchFamily="34" charset="-122"/>
                <a:cs typeface="Poppins" pitchFamily="34" charset="-120"/>
              </a:rPr>
              <a:t>Before</a:t>
            </a:r>
            <a:endParaRPr lang="en-US" sz="900" dirty="0"/>
          </a:p>
        </p:txBody>
      </p:sp>
      <p:sp>
        <p:nvSpPr>
          <p:cNvPr id="14" name="Text 11"/>
          <p:cNvSpPr/>
          <p:nvPr/>
        </p:nvSpPr>
        <p:spPr>
          <a:xfrm>
            <a:off x="2651760" y="1920240"/>
            <a:ext cx="1920240" cy="457200"/>
          </a:xfrm>
          <a:prstGeom prst="rect">
            <a:avLst/>
          </a:prstGeom>
          <a:noFill/>
          <a:ln/>
        </p:spPr>
        <p:txBody>
          <a:bodyPr wrap="square" rtlCol="0" anchor="ctr"/>
          <a:lstStyle/>
          <a:p>
            <a:pPr algn="ctr" indent="0" marL="0">
              <a:buNone/>
            </a:pPr>
            <a:r>
              <a:rPr lang="en-US" sz="2200" b="1" dirty="0">
                <a:solidFill>
                  <a:srgbClr val="CC3333"/>
                </a:solidFill>
                <a:latin typeface="Poppins" pitchFamily="34" charset="0"/>
                <a:ea typeface="Poppins" pitchFamily="34" charset="-122"/>
                <a:cs typeface="Poppins" pitchFamily="34" charset="-120"/>
              </a:rPr>
              <a:t>6-8 weeks</a:t>
            </a:r>
            <a:endParaRPr lang="en-US" sz="2200" dirty="0"/>
          </a:p>
        </p:txBody>
      </p:sp>
      <p:sp>
        <p:nvSpPr>
          <p:cNvPr id="15" name="Text 12"/>
          <p:cNvSpPr/>
          <p:nvPr/>
        </p:nvSpPr>
        <p:spPr>
          <a:xfrm>
            <a:off x="2651760" y="2331720"/>
            <a:ext cx="1920240" cy="228600"/>
          </a:xfrm>
          <a:prstGeom prst="rect">
            <a:avLst/>
          </a:prstGeom>
          <a:noFill/>
          <a:ln/>
        </p:spPr>
        <p:txBody>
          <a:bodyPr wrap="square" rtlCol="0" anchor="ctr"/>
          <a:lstStyle/>
          <a:p>
            <a:pPr algn="ctr" indent="0" marL="0">
              <a:buNone/>
            </a:pPr>
            <a:r>
              <a:rPr lang="en-US" sz="1400" dirty="0">
                <a:solidFill>
                  <a:srgbClr val="293FE1"/>
                </a:solidFill>
                <a:latin typeface="Poppins" pitchFamily="34" charset="0"/>
                <a:ea typeface="Poppins" pitchFamily="34" charset="-122"/>
                <a:cs typeface="Poppins" pitchFamily="34" charset="-120"/>
              </a:rPr>
              <a:t>↓</a:t>
            </a:r>
            <a:endParaRPr lang="en-US" sz="1400" dirty="0"/>
          </a:p>
        </p:txBody>
      </p:sp>
      <p:sp>
        <p:nvSpPr>
          <p:cNvPr id="16" name="Text 13"/>
          <p:cNvSpPr/>
          <p:nvPr/>
        </p:nvSpPr>
        <p:spPr>
          <a:xfrm>
            <a:off x="2651760" y="2514600"/>
            <a:ext cx="1920240" cy="365760"/>
          </a:xfrm>
          <a:prstGeom prst="rect">
            <a:avLst/>
          </a:prstGeom>
          <a:noFill/>
          <a:ln/>
        </p:spPr>
        <p:txBody>
          <a:bodyPr wrap="square" rtlCol="0" anchor="ctr"/>
          <a:lstStyle/>
          <a:p>
            <a:pPr algn="ctr" indent="0" marL="0">
              <a:buNone/>
            </a:pPr>
            <a:r>
              <a:rPr lang="en-US" sz="1800" b="1" dirty="0">
                <a:solidFill>
                  <a:srgbClr val="1A8A3A"/>
                </a:solidFill>
                <a:latin typeface="Poppins" pitchFamily="34" charset="0"/>
                <a:ea typeface="Poppins" pitchFamily="34" charset="-122"/>
                <a:cs typeface="Poppins" pitchFamily="34" charset="-120"/>
              </a:rPr>
              <a:t>Hours</a:t>
            </a:r>
            <a:endParaRPr lang="en-US" sz="1800" dirty="0"/>
          </a:p>
        </p:txBody>
      </p:sp>
      <p:sp>
        <p:nvSpPr>
          <p:cNvPr id="17" name="Text 14"/>
          <p:cNvSpPr/>
          <p:nvPr/>
        </p:nvSpPr>
        <p:spPr>
          <a:xfrm>
            <a:off x="2651760" y="3108960"/>
            <a:ext cx="1920240" cy="274320"/>
          </a:xfrm>
          <a:prstGeom prst="rect">
            <a:avLst/>
          </a:prstGeom>
          <a:noFill/>
          <a:ln/>
        </p:spPr>
        <p:txBody>
          <a:bodyPr wrap="square" rtlCol="0" anchor="ctr"/>
          <a:lstStyle/>
          <a:p>
            <a:pPr algn="ctr" indent="0" marL="0">
              <a:buNone/>
            </a:pPr>
            <a:r>
              <a:rPr lang="en-US" sz="1000" b="1" dirty="0">
                <a:solidFill>
                  <a:srgbClr val="242528"/>
                </a:solidFill>
                <a:latin typeface="Poppins" pitchFamily="34" charset="0"/>
                <a:ea typeface="Poppins" pitchFamily="34" charset="-122"/>
                <a:cs typeface="Poppins" pitchFamily="34" charset="-120"/>
              </a:rPr>
              <a:t>Decision Speed</a:t>
            </a:r>
            <a:endParaRPr lang="en-US" sz="1000" dirty="0"/>
          </a:p>
        </p:txBody>
      </p:sp>
      <p:sp>
        <p:nvSpPr>
          <p:cNvPr id="18" name="Shape 15"/>
          <p:cNvSpPr/>
          <p:nvPr/>
        </p:nvSpPr>
        <p:spPr>
          <a:xfrm>
            <a:off x="4754880" y="1645920"/>
            <a:ext cx="1920240" cy="1280160"/>
          </a:xfrm>
          <a:prstGeom prst="rect">
            <a:avLst/>
          </a:prstGeom>
          <a:solidFill>
            <a:srgbClr val="FFFFFF"/>
          </a:solidFill>
          <a:ln/>
        </p:spPr>
      </p:sp>
      <p:sp>
        <p:nvSpPr>
          <p:cNvPr id="19" name="Text 16"/>
          <p:cNvSpPr/>
          <p:nvPr/>
        </p:nvSpPr>
        <p:spPr>
          <a:xfrm>
            <a:off x="4754880" y="1691640"/>
            <a:ext cx="1920240" cy="228600"/>
          </a:xfrm>
          <a:prstGeom prst="rect">
            <a:avLst/>
          </a:prstGeom>
          <a:noFill/>
          <a:ln/>
        </p:spPr>
        <p:txBody>
          <a:bodyPr wrap="square" rtlCol="0" anchor="ctr"/>
          <a:lstStyle/>
          <a:p>
            <a:pPr algn="ctr" indent="0" marL="0">
              <a:buNone/>
            </a:pPr>
            <a:r>
              <a:rPr lang="en-US" sz="900" dirty="0">
                <a:solidFill>
                  <a:srgbClr val="676B75"/>
                </a:solidFill>
                <a:latin typeface="Poppins" pitchFamily="34" charset="0"/>
                <a:ea typeface="Poppins" pitchFamily="34" charset="-122"/>
                <a:cs typeface="Poppins" pitchFamily="34" charset="-120"/>
              </a:rPr>
              <a:t>Before</a:t>
            </a:r>
            <a:endParaRPr lang="en-US" sz="900" dirty="0"/>
          </a:p>
        </p:txBody>
      </p:sp>
      <p:sp>
        <p:nvSpPr>
          <p:cNvPr id="20" name="Text 17"/>
          <p:cNvSpPr/>
          <p:nvPr/>
        </p:nvSpPr>
        <p:spPr>
          <a:xfrm>
            <a:off x="4754880" y="1920240"/>
            <a:ext cx="1920240" cy="457200"/>
          </a:xfrm>
          <a:prstGeom prst="rect">
            <a:avLst/>
          </a:prstGeom>
          <a:noFill/>
          <a:ln/>
        </p:spPr>
        <p:txBody>
          <a:bodyPr wrap="square" rtlCol="0" anchor="ctr"/>
          <a:lstStyle/>
          <a:p>
            <a:pPr algn="ctr" indent="0" marL="0">
              <a:buNone/>
            </a:pPr>
            <a:r>
              <a:rPr lang="en-US" sz="2200" b="1" dirty="0">
                <a:solidFill>
                  <a:srgbClr val="CC3333"/>
                </a:solidFill>
                <a:latin typeface="Poppins" pitchFamily="34" charset="0"/>
                <a:ea typeface="Poppins" pitchFamily="34" charset="-122"/>
                <a:cs typeface="Poppins" pitchFamily="34" charset="-120"/>
              </a:rPr>
              <a:t>50/50</a:t>
            </a:r>
            <a:endParaRPr lang="en-US" sz="2200" dirty="0"/>
          </a:p>
        </p:txBody>
      </p:sp>
      <p:sp>
        <p:nvSpPr>
          <p:cNvPr id="21" name="Text 18"/>
          <p:cNvSpPr/>
          <p:nvPr/>
        </p:nvSpPr>
        <p:spPr>
          <a:xfrm>
            <a:off x="4754880" y="2331720"/>
            <a:ext cx="1920240" cy="228600"/>
          </a:xfrm>
          <a:prstGeom prst="rect">
            <a:avLst/>
          </a:prstGeom>
          <a:noFill/>
          <a:ln/>
        </p:spPr>
        <p:txBody>
          <a:bodyPr wrap="square" rtlCol="0" anchor="ctr"/>
          <a:lstStyle/>
          <a:p>
            <a:pPr algn="ctr" indent="0" marL="0">
              <a:buNone/>
            </a:pPr>
            <a:r>
              <a:rPr lang="en-US" sz="1400" dirty="0">
                <a:solidFill>
                  <a:srgbClr val="293FE1"/>
                </a:solidFill>
                <a:latin typeface="Poppins" pitchFamily="34" charset="0"/>
                <a:ea typeface="Poppins" pitchFamily="34" charset="-122"/>
                <a:cs typeface="Poppins" pitchFamily="34" charset="-120"/>
              </a:rPr>
              <a:t>↓</a:t>
            </a:r>
            <a:endParaRPr lang="en-US" sz="1400" dirty="0"/>
          </a:p>
        </p:txBody>
      </p:sp>
      <p:sp>
        <p:nvSpPr>
          <p:cNvPr id="22" name="Text 19"/>
          <p:cNvSpPr/>
          <p:nvPr/>
        </p:nvSpPr>
        <p:spPr>
          <a:xfrm>
            <a:off x="4754880" y="2514600"/>
            <a:ext cx="1920240" cy="365760"/>
          </a:xfrm>
          <a:prstGeom prst="rect">
            <a:avLst/>
          </a:prstGeom>
          <a:noFill/>
          <a:ln/>
        </p:spPr>
        <p:txBody>
          <a:bodyPr wrap="square" rtlCol="0" anchor="ctr"/>
          <a:lstStyle/>
          <a:p>
            <a:pPr algn="ctr" indent="0" marL="0">
              <a:buNone/>
            </a:pPr>
            <a:r>
              <a:rPr lang="en-US" sz="1800" b="1" dirty="0">
                <a:solidFill>
                  <a:srgbClr val="1A8A3A"/>
                </a:solidFill>
                <a:latin typeface="Poppins" pitchFamily="34" charset="0"/>
                <a:ea typeface="Poppins" pitchFamily="34" charset="-122"/>
                <a:cs typeface="Poppins" pitchFamily="34" charset="-120"/>
              </a:rPr>
              <a:t>2× success</a:t>
            </a:r>
            <a:endParaRPr lang="en-US" sz="1800" dirty="0"/>
          </a:p>
        </p:txBody>
      </p:sp>
      <p:sp>
        <p:nvSpPr>
          <p:cNvPr id="23" name="Text 20"/>
          <p:cNvSpPr/>
          <p:nvPr/>
        </p:nvSpPr>
        <p:spPr>
          <a:xfrm>
            <a:off x="4754880" y="3108960"/>
            <a:ext cx="1920240" cy="274320"/>
          </a:xfrm>
          <a:prstGeom prst="rect">
            <a:avLst/>
          </a:prstGeom>
          <a:noFill/>
          <a:ln/>
        </p:spPr>
        <p:txBody>
          <a:bodyPr wrap="square" rtlCol="0" anchor="ctr"/>
          <a:lstStyle/>
          <a:p>
            <a:pPr algn="ctr" indent="0" marL="0">
              <a:buNone/>
            </a:pPr>
            <a:r>
              <a:rPr lang="en-US" sz="1000" b="1" dirty="0">
                <a:solidFill>
                  <a:srgbClr val="242528"/>
                </a:solidFill>
                <a:latin typeface="Poppins" pitchFamily="34" charset="0"/>
                <a:ea typeface="Poppins" pitchFamily="34" charset="-122"/>
                <a:cs typeface="Poppins" pitchFamily="34" charset="-120"/>
              </a:rPr>
              <a:t>Innovation Hit Rate</a:t>
            </a:r>
            <a:endParaRPr lang="en-US" sz="1000" dirty="0"/>
          </a:p>
        </p:txBody>
      </p:sp>
      <p:sp>
        <p:nvSpPr>
          <p:cNvPr id="24" name="Shape 21"/>
          <p:cNvSpPr/>
          <p:nvPr/>
        </p:nvSpPr>
        <p:spPr>
          <a:xfrm>
            <a:off x="6858000" y="1645920"/>
            <a:ext cx="1920240" cy="1280160"/>
          </a:xfrm>
          <a:prstGeom prst="rect">
            <a:avLst/>
          </a:prstGeom>
          <a:solidFill>
            <a:srgbClr val="FFFFFF"/>
          </a:solidFill>
          <a:ln/>
        </p:spPr>
      </p:sp>
      <p:sp>
        <p:nvSpPr>
          <p:cNvPr id="25" name="Text 22"/>
          <p:cNvSpPr/>
          <p:nvPr/>
        </p:nvSpPr>
        <p:spPr>
          <a:xfrm>
            <a:off x="6858000" y="1691640"/>
            <a:ext cx="1920240" cy="228600"/>
          </a:xfrm>
          <a:prstGeom prst="rect">
            <a:avLst/>
          </a:prstGeom>
          <a:noFill/>
          <a:ln/>
        </p:spPr>
        <p:txBody>
          <a:bodyPr wrap="square" rtlCol="0" anchor="ctr"/>
          <a:lstStyle/>
          <a:p>
            <a:pPr algn="ctr" indent="0" marL="0">
              <a:buNone/>
            </a:pPr>
            <a:r>
              <a:rPr lang="en-US" sz="900" dirty="0">
                <a:solidFill>
                  <a:srgbClr val="676B75"/>
                </a:solidFill>
                <a:latin typeface="Poppins" pitchFamily="34" charset="0"/>
                <a:ea typeface="Poppins" pitchFamily="34" charset="-122"/>
                <a:cs typeface="Poppins" pitchFamily="34" charset="-120"/>
              </a:rPr>
              <a:t>Before</a:t>
            </a:r>
            <a:endParaRPr lang="en-US" sz="900" dirty="0"/>
          </a:p>
        </p:txBody>
      </p:sp>
      <p:sp>
        <p:nvSpPr>
          <p:cNvPr id="26" name="Text 23"/>
          <p:cNvSpPr/>
          <p:nvPr/>
        </p:nvSpPr>
        <p:spPr>
          <a:xfrm>
            <a:off x="6858000" y="1920240"/>
            <a:ext cx="1920240" cy="457200"/>
          </a:xfrm>
          <a:prstGeom prst="rect">
            <a:avLst/>
          </a:prstGeom>
          <a:noFill/>
          <a:ln/>
        </p:spPr>
        <p:txBody>
          <a:bodyPr wrap="square" rtlCol="0" anchor="ctr"/>
          <a:lstStyle/>
          <a:p>
            <a:pPr algn="ctr" indent="0" marL="0">
              <a:buNone/>
            </a:pPr>
            <a:r>
              <a:rPr lang="en-US" sz="2200" b="1" dirty="0">
                <a:solidFill>
                  <a:srgbClr val="CC3333"/>
                </a:solidFill>
                <a:latin typeface="Poppins" pitchFamily="34" charset="0"/>
                <a:ea typeface="Poppins" pitchFamily="34" charset="-122"/>
                <a:cs typeface="Poppins" pitchFamily="34" charset="-120"/>
              </a:rPr>
              <a:t>Reactive</a:t>
            </a:r>
            <a:endParaRPr lang="en-US" sz="2200" dirty="0"/>
          </a:p>
        </p:txBody>
      </p:sp>
      <p:sp>
        <p:nvSpPr>
          <p:cNvPr id="27" name="Text 24"/>
          <p:cNvSpPr/>
          <p:nvPr/>
        </p:nvSpPr>
        <p:spPr>
          <a:xfrm>
            <a:off x="6858000" y="2331720"/>
            <a:ext cx="1920240" cy="228600"/>
          </a:xfrm>
          <a:prstGeom prst="rect">
            <a:avLst/>
          </a:prstGeom>
          <a:noFill/>
          <a:ln/>
        </p:spPr>
        <p:txBody>
          <a:bodyPr wrap="square" rtlCol="0" anchor="ctr"/>
          <a:lstStyle/>
          <a:p>
            <a:pPr algn="ctr" indent="0" marL="0">
              <a:buNone/>
            </a:pPr>
            <a:r>
              <a:rPr lang="en-US" sz="1400" dirty="0">
                <a:solidFill>
                  <a:srgbClr val="293FE1"/>
                </a:solidFill>
                <a:latin typeface="Poppins" pitchFamily="34" charset="0"/>
                <a:ea typeface="Poppins" pitchFamily="34" charset="-122"/>
                <a:cs typeface="Poppins" pitchFamily="34" charset="-120"/>
              </a:rPr>
              <a:t>↓</a:t>
            </a:r>
            <a:endParaRPr lang="en-US" sz="1400" dirty="0"/>
          </a:p>
        </p:txBody>
      </p:sp>
      <p:sp>
        <p:nvSpPr>
          <p:cNvPr id="28" name="Text 25"/>
          <p:cNvSpPr/>
          <p:nvPr/>
        </p:nvSpPr>
        <p:spPr>
          <a:xfrm>
            <a:off x="6858000" y="2514600"/>
            <a:ext cx="1920240" cy="365760"/>
          </a:xfrm>
          <a:prstGeom prst="rect">
            <a:avLst/>
          </a:prstGeom>
          <a:noFill/>
          <a:ln/>
        </p:spPr>
        <p:txBody>
          <a:bodyPr wrap="square" rtlCol="0" anchor="ctr"/>
          <a:lstStyle/>
          <a:p>
            <a:pPr algn="ctr" indent="0" marL="0">
              <a:buNone/>
            </a:pPr>
            <a:r>
              <a:rPr lang="en-US" sz="1800" b="1" dirty="0">
                <a:solidFill>
                  <a:srgbClr val="1A8A3A"/>
                </a:solidFill>
                <a:latin typeface="Poppins" pitchFamily="34" charset="0"/>
                <a:ea typeface="Poppins" pitchFamily="34" charset="-122"/>
                <a:cs typeface="Poppins" pitchFamily="34" charset="-120"/>
              </a:rPr>
              <a:t>Months ahead</a:t>
            </a:r>
            <a:endParaRPr lang="en-US" sz="1800" dirty="0"/>
          </a:p>
        </p:txBody>
      </p:sp>
      <p:sp>
        <p:nvSpPr>
          <p:cNvPr id="29" name="Text 26"/>
          <p:cNvSpPr/>
          <p:nvPr/>
        </p:nvSpPr>
        <p:spPr>
          <a:xfrm>
            <a:off x="6858000" y="3108960"/>
            <a:ext cx="1920240" cy="274320"/>
          </a:xfrm>
          <a:prstGeom prst="rect">
            <a:avLst/>
          </a:prstGeom>
          <a:noFill/>
          <a:ln/>
        </p:spPr>
        <p:txBody>
          <a:bodyPr wrap="square" rtlCol="0" anchor="ctr"/>
          <a:lstStyle/>
          <a:p>
            <a:pPr algn="ctr" indent="0" marL="0">
              <a:buNone/>
            </a:pPr>
            <a:r>
              <a:rPr lang="en-US" sz="1000" b="1" dirty="0">
                <a:solidFill>
                  <a:srgbClr val="242528"/>
                </a:solidFill>
                <a:latin typeface="Poppins" pitchFamily="34" charset="0"/>
                <a:ea typeface="Poppins" pitchFamily="34" charset="-122"/>
                <a:cs typeface="Poppins" pitchFamily="34" charset="-120"/>
              </a:rPr>
              <a:t>Competitive Timing</a:t>
            </a:r>
            <a:endParaRPr lang="en-US" sz="1000" dirty="0"/>
          </a:p>
        </p:txBody>
      </p:sp>
      <p:sp>
        <p:nvSpPr>
          <p:cNvPr id="30" name="Shape 27"/>
          <p:cNvSpPr/>
          <p:nvPr/>
        </p:nvSpPr>
        <p:spPr>
          <a:xfrm>
            <a:off x="548640" y="3749040"/>
            <a:ext cx="8046720" cy="640080"/>
          </a:xfrm>
          <a:prstGeom prst="rect">
            <a:avLst/>
          </a:prstGeom>
          <a:solidFill>
            <a:srgbClr val="1F2432"/>
          </a:solidFill>
          <a:ln/>
        </p:spPr>
      </p:sp>
      <p:sp>
        <p:nvSpPr>
          <p:cNvPr id="31" name="Text 28"/>
          <p:cNvSpPr/>
          <p:nvPr/>
        </p:nvSpPr>
        <p:spPr>
          <a:xfrm>
            <a:off x="731520" y="3749040"/>
            <a:ext cx="7680960" cy="640080"/>
          </a:xfrm>
          <a:prstGeom prst="rect">
            <a:avLst/>
          </a:prstGeom>
          <a:noFill/>
          <a:ln/>
        </p:spPr>
        <p:txBody>
          <a:bodyPr wrap="square" rtlCol="0" anchor="ctr"/>
          <a:lstStyle/>
          <a:p>
            <a:pPr algn="ctr" indent="0" marL="0">
              <a:buNone/>
            </a:pPr>
            <a:r>
              <a:rPr lang="en-US" sz="1300" i="1" dirty="0">
                <a:solidFill>
                  <a:srgbClr val="FFFFFF"/>
                </a:solidFill>
                <a:latin typeface="Poppins" pitchFamily="34" charset="0"/>
                <a:ea typeface="Poppins" pitchFamily="34" charset="-122"/>
                <a:cs typeface="Poppins" pitchFamily="34" charset="-120"/>
              </a:rPr>
              <a:t>Your best talent stays — because they're finally doing the work they were hired to do.</a:t>
            </a:r>
            <a:endParaRPr lang="en-US" sz="1300" dirty="0"/>
          </a:p>
        </p:txBody>
      </p:sp>
      <p:sp>
        <p:nvSpPr>
          <p:cNvPr id="32" name="Text 29"/>
          <p:cNvSpPr/>
          <p:nvPr/>
        </p:nvSpPr>
        <p:spPr>
          <a:xfrm>
            <a:off x="0" y="4709160"/>
            <a:ext cx="9144000" cy="320040"/>
          </a:xfrm>
          <a:prstGeom prst="rect">
            <a:avLst/>
          </a:prstGeom>
          <a:noFill/>
          <a:ln/>
        </p:spPr>
        <p:txBody>
          <a:bodyPr wrap="square" rtlCol="0" anchor="ctr"/>
          <a:lstStyle/>
          <a:p>
            <a:pPr algn="ctr" indent="0" marL="0">
              <a:buNone/>
            </a:pPr>
            <a:r>
              <a:rPr lang="en-US" sz="800" dirty="0">
                <a:solidFill>
                  <a:srgbClr val="676B75"/>
                </a:solidFill>
                <a:latin typeface="Poppins" pitchFamily="34" charset="0"/>
                <a:ea typeface="Poppins" pitchFamily="34" charset="-122"/>
                <a:cs typeface="Poppins" pitchFamily="34" charset="-120"/>
              </a:rPr>
              <a:t>globaldata.com</a:t>
            </a:r>
            <a:endParaRPr lang="en-US" sz="800" dirty="0"/>
          </a:p>
        </p:txBody>
      </p:sp>
      <p:sp>
        <p:nvSpPr>
          <p:cNvPr id="33" name="Text 30"/>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676B75"/>
                </a:solidFill>
                <a:latin typeface="Poppins" pitchFamily="34" charset="0"/>
                <a:ea typeface="Poppins" pitchFamily="34" charset="-122"/>
                <a:cs typeface="Poppins"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502920" cy="502920"/>
          </a:xfrm>
          <a:prstGeom prst="rect">
            <a:avLst/>
          </a:prstGeom>
        </p:spPr>
      </p:pic>
      <p:sp>
        <p:nvSpPr>
          <p:cNvPr id="3" name="Text 0"/>
          <p:cNvSpPr/>
          <p:nvPr/>
        </p:nvSpPr>
        <p:spPr>
          <a:xfrm>
            <a:off x="548640" y="274320"/>
            <a:ext cx="7315200" cy="457200"/>
          </a:xfrm>
          <a:prstGeom prst="rect">
            <a:avLst/>
          </a:prstGeom>
          <a:noFill/>
          <a:ln/>
        </p:spPr>
        <p:txBody>
          <a:bodyPr wrap="square" rtlCol="0" anchor="ctr"/>
          <a:lstStyle/>
          <a:p>
            <a:pPr indent="0" marL="0">
              <a:buNone/>
            </a:pPr>
            <a:r>
              <a:rPr lang="en-US" sz="2400" b="1" dirty="0">
                <a:solidFill>
                  <a:srgbClr val="242528"/>
                </a:solidFill>
                <a:latin typeface="Poppins" pitchFamily="34" charset="0"/>
                <a:ea typeface="Poppins" pitchFamily="34" charset="-122"/>
                <a:cs typeface="Poppins" pitchFamily="34" charset="-120"/>
              </a:rPr>
              <a:t>The Intelligence Maturity Journey</a:t>
            </a:r>
            <a:endParaRPr lang="en-US" sz="2400" dirty="0"/>
          </a:p>
        </p:txBody>
      </p:sp>
      <p:sp>
        <p:nvSpPr>
          <p:cNvPr id="4" name="Shape 1"/>
          <p:cNvSpPr/>
          <p:nvPr/>
        </p:nvSpPr>
        <p:spPr>
          <a:xfrm>
            <a:off x="548640" y="777240"/>
            <a:ext cx="1097280" cy="36576"/>
          </a:xfrm>
          <a:prstGeom prst="rect">
            <a:avLst/>
          </a:prstGeom>
          <a:solidFill>
            <a:srgbClr val="293FE1"/>
          </a:solidFill>
          <a:ln/>
        </p:spPr>
      </p:sp>
      <p:sp>
        <p:nvSpPr>
          <p:cNvPr id="5" name="Shape 2"/>
          <p:cNvSpPr/>
          <p:nvPr/>
        </p:nvSpPr>
        <p:spPr>
          <a:xfrm>
            <a:off x="365760" y="1097280"/>
            <a:ext cx="2011680" cy="3474720"/>
          </a:xfrm>
          <a:prstGeom prst="rect">
            <a:avLst/>
          </a:prstGeom>
          <a:solidFill>
            <a:srgbClr val="FFF0F0"/>
          </a:solidFill>
          <a:ln/>
        </p:spPr>
      </p:sp>
      <p:sp>
        <p:nvSpPr>
          <p:cNvPr id="6" name="Shape 3"/>
          <p:cNvSpPr/>
          <p:nvPr/>
        </p:nvSpPr>
        <p:spPr>
          <a:xfrm>
            <a:off x="1051560" y="1280160"/>
            <a:ext cx="640080" cy="640080"/>
          </a:xfrm>
          <a:prstGeom prst="ellipse">
            <a:avLst/>
          </a:prstGeom>
          <a:solidFill>
            <a:srgbClr val="CC3333"/>
          </a:solidFill>
          <a:ln/>
        </p:spPr>
      </p:sp>
      <p:sp>
        <p:nvSpPr>
          <p:cNvPr id="7" name="Text 4"/>
          <p:cNvSpPr/>
          <p:nvPr/>
        </p:nvSpPr>
        <p:spPr>
          <a:xfrm>
            <a:off x="1051560" y="1280160"/>
            <a:ext cx="640080" cy="640080"/>
          </a:xfrm>
          <a:prstGeom prst="rect">
            <a:avLst/>
          </a:prstGeom>
          <a:noFill/>
          <a:ln/>
        </p:spPr>
        <p:txBody>
          <a:bodyPr wrap="square"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1</a:t>
            </a:r>
            <a:endParaRPr lang="en-US" sz="2200" dirty="0"/>
          </a:p>
        </p:txBody>
      </p:sp>
      <p:sp>
        <p:nvSpPr>
          <p:cNvPr id="8" name="Text 5"/>
          <p:cNvSpPr/>
          <p:nvPr/>
        </p:nvSpPr>
        <p:spPr>
          <a:xfrm>
            <a:off x="365760" y="2057400"/>
            <a:ext cx="2011680" cy="365760"/>
          </a:xfrm>
          <a:prstGeom prst="rect">
            <a:avLst/>
          </a:prstGeom>
          <a:noFill/>
          <a:ln/>
        </p:spPr>
        <p:txBody>
          <a:bodyPr wrap="square" rtlCol="0" anchor="ctr"/>
          <a:lstStyle/>
          <a:p>
            <a:pPr algn="ctr" indent="0" marL="0">
              <a:buNone/>
            </a:pPr>
            <a:r>
              <a:rPr lang="en-US" sz="1600" b="1" dirty="0">
                <a:solidFill>
                  <a:srgbClr val="CC3333"/>
                </a:solidFill>
                <a:latin typeface="Poppins" pitchFamily="34" charset="0"/>
                <a:ea typeface="Poppins" pitchFamily="34" charset="-122"/>
                <a:cs typeface="Poppins" pitchFamily="34" charset="-120"/>
              </a:rPr>
              <a:t>Fragmented</a:t>
            </a:r>
            <a:endParaRPr lang="en-US" sz="1600" dirty="0"/>
          </a:p>
        </p:txBody>
      </p:sp>
      <p:sp>
        <p:nvSpPr>
          <p:cNvPr id="9" name="Text 6"/>
          <p:cNvSpPr/>
          <p:nvPr/>
        </p:nvSpPr>
        <p:spPr>
          <a:xfrm>
            <a:off x="502920" y="2514600"/>
            <a:ext cx="1737360" cy="1828800"/>
          </a:xfrm>
          <a:prstGeom prst="rect">
            <a:avLst/>
          </a:prstGeom>
          <a:noFill/>
          <a:ln/>
        </p:spPr>
        <p:txBody>
          <a:bodyPr wrap="square" rtlCol="0" anchor="t"/>
          <a:lstStyle/>
          <a:p>
            <a:pPr indent="0" marL="0">
              <a:buNone/>
            </a:pPr>
            <a:r>
              <a:rPr lang="en-US" sz="1000" dirty="0">
                <a:solidFill>
                  <a:srgbClr val="242528"/>
                </a:solidFill>
                <a:latin typeface="Poppins" pitchFamily="34" charset="0"/>
                <a:ea typeface="Poppins" pitchFamily="34" charset="-122"/>
                <a:cs typeface="Poppins" pitchFamily="34" charset="-120"/>
              </a:rPr>
              <a:t>Multiple vendors, no taxonomy</a:t>
            </a:r>
            <a:endParaRPr lang="en-US" sz="1000" dirty="0"/>
          </a:p>
          <a:p>
            <a:pPr indent="0" marL="0">
              <a:buNone/>
            </a:pPr>
            <a:r>
              <a:rPr lang="en-US" sz="1000" dirty="0">
                <a:solidFill>
                  <a:srgbClr val="242528"/>
                </a:solidFill>
                <a:latin typeface="Poppins" pitchFamily="34" charset="0"/>
                <a:ea typeface="Poppins" pitchFamily="34" charset="-122"/>
                <a:cs typeface="Poppins" pitchFamily="34" charset="-120"/>
              </a:rPr>
              <a:t>60% time reconciling</a:t>
            </a:r>
            <a:endParaRPr lang="en-US" sz="1000" dirty="0"/>
          </a:p>
          <a:p>
            <a:pPr indent="0" marL="0">
              <a:buNone/>
            </a:pPr>
            <a:r>
              <a:rPr lang="en-US" sz="1000" dirty="0">
                <a:solidFill>
                  <a:srgbClr val="242528"/>
                </a:solidFill>
                <a:latin typeface="Poppins" pitchFamily="34" charset="0"/>
                <a:ea typeface="Poppins" pitchFamily="34" charset="-122"/>
                <a:cs typeface="Poppins" pitchFamily="34" charset="-120"/>
              </a:rPr>
              <a:t>Silos everywhere</a:t>
            </a:r>
            <a:endParaRPr lang="en-US" sz="1000" dirty="0"/>
          </a:p>
        </p:txBody>
      </p:sp>
      <p:sp>
        <p:nvSpPr>
          <p:cNvPr id="10" name="Text 7"/>
          <p:cNvSpPr/>
          <p:nvPr/>
        </p:nvSpPr>
        <p:spPr>
          <a:xfrm>
            <a:off x="2286000" y="2560320"/>
            <a:ext cx="365760" cy="365760"/>
          </a:xfrm>
          <a:prstGeom prst="rect">
            <a:avLst/>
          </a:prstGeom>
          <a:noFill/>
          <a:ln/>
        </p:spPr>
        <p:txBody>
          <a:bodyPr wrap="square" rtlCol="0" anchor="ctr"/>
          <a:lstStyle/>
          <a:p>
            <a:pPr algn="ctr" indent="0" marL="0">
              <a:buNone/>
            </a:pPr>
            <a:r>
              <a:rPr lang="en-US" sz="2000" dirty="0">
                <a:solidFill>
                  <a:srgbClr val="293FE1"/>
                </a:solidFill>
                <a:latin typeface="Poppins" pitchFamily="34" charset="0"/>
                <a:ea typeface="Poppins" pitchFamily="34" charset="-122"/>
                <a:cs typeface="Poppins" pitchFamily="34" charset="-120"/>
              </a:rPr>
              <a:t>→</a:t>
            </a:r>
            <a:endParaRPr lang="en-US" sz="2000" dirty="0"/>
          </a:p>
        </p:txBody>
      </p:sp>
      <p:sp>
        <p:nvSpPr>
          <p:cNvPr id="11" name="Shape 8"/>
          <p:cNvSpPr/>
          <p:nvPr/>
        </p:nvSpPr>
        <p:spPr>
          <a:xfrm>
            <a:off x="2560320" y="1097280"/>
            <a:ext cx="2011680" cy="3474720"/>
          </a:xfrm>
          <a:prstGeom prst="rect">
            <a:avLst/>
          </a:prstGeom>
          <a:solidFill>
            <a:srgbClr val="E8EEFF"/>
          </a:solidFill>
          <a:ln/>
        </p:spPr>
      </p:sp>
      <p:sp>
        <p:nvSpPr>
          <p:cNvPr id="12" name="Shape 9"/>
          <p:cNvSpPr/>
          <p:nvPr/>
        </p:nvSpPr>
        <p:spPr>
          <a:xfrm>
            <a:off x="3246120" y="1280160"/>
            <a:ext cx="640080" cy="640080"/>
          </a:xfrm>
          <a:prstGeom prst="ellipse">
            <a:avLst/>
          </a:prstGeom>
          <a:solidFill>
            <a:srgbClr val="293FE1"/>
          </a:solidFill>
          <a:ln/>
        </p:spPr>
      </p:sp>
      <p:sp>
        <p:nvSpPr>
          <p:cNvPr id="13" name="Text 10"/>
          <p:cNvSpPr/>
          <p:nvPr/>
        </p:nvSpPr>
        <p:spPr>
          <a:xfrm>
            <a:off x="3246120" y="1280160"/>
            <a:ext cx="640080" cy="640080"/>
          </a:xfrm>
          <a:prstGeom prst="rect">
            <a:avLst/>
          </a:prstGeom>
          <a:noFill/>
          <a:ln/>
        </p:spPr>
        <p:txBody>
          <a:bodyPr wrap="square"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2</a:t>
            </a:r>
            <a:endParaRPr lang="en-US" sz="2200" dirty="0"/>
          </a:p>
        </p:txBody>
      </p:sp>
      <p:sp>
        <p:nvSpPr>
          <p:cNvPr id="14" name="Text 11"/>
          <p:cNvSpPr/>
          <p:nvPr/>
        </p:nvSpPr>
        <p:spPr>
          <a:xfrm>
            <a:off x="2560320" y="2057400"/>
            <a:ext cx="2011680" cy="365760"/>
          </a:xfrm>
          <a:prstGeom prst="rect">
            <a:avLst/>
          </a:prstGeom>
          <a:noFill/>
          <a:ln/>
        </p:spPr>
        <p:txBody>
          <a:bodyPr wrap="square" rtlCol="0" anchor="ctr"/>
          <a:lstStyle/>
          <a:p>
            <a:pPr algn="ctr" indent="0" marL="0">
              <a:buNone/>
            </a:pPr>
            <a:r>
              <a:rPr lang="en-US" sz="1600" b="1" dirty="0">
                <a:solidFill>
                  <a:srgbClr val="293FE1"/>
                </a:solidFill>
                <a:latin typeface="Poppins" pitchFamily="34" charset="0"/>
                <a:ea typeface="Poppins" pitchFamily="34" charset="-122"/>
                <a:cs typeface="Poppins" pitchFamily="34" charset="-120"/>
              </a:rPr>
              <a:t>Connected</a:t>
            </a:r>
            <a:endParaRPr lang="en-US" sz="1600" dirty="0"/>
          </a:p>
        </p:txBody>
      </p:sp>
      <p:sp>
        <p:nvSpPr>
          <p:cNvPr id="15" name="Text 12"/>
          <p:cNvSpPr/>
          <p:nvPr/>
        </p:nvSpPr>
        <p:spPr>
          <a:xfrm>
            <a:off x="2697480" y="2514600"/>
            <a:ext cx="1737360" cy="1828800"/>
          </a:xfrm>
          <a:prstGeom prst="rect">
            <a:avLst/>
          </a:prstGeom>
          <a:noFill/>
          <a:ln/>
        </p:spPr>
        <p:txBody>
          <a:bodyPr wrap="square" rtlCol="0" anchor="t"/>
          <a:lstStyle/>
          <a:p>
            <a:pPr indent="0" marL="0">
              <a:buNone/>
            </a:pPr>
            <a:r>
              <a:rPr lang="en-US" sz="1000" dirty="0">
                <a:solidFill>
                  <a:srgbClr val="242528"/>
                </a:solidFill>
                <a:latin typeface="Poppins" pitchFamily="34" charset="0"/>
                <a:ea typeface="Poppins" pitchFamily="34" charset="-122"/>
                <a:cs typeface="Poppins" pitchFamily="34" charset="-120"/>
              </a:rPr>
              <a:t>One taxonomy, one platform</a:t>
            </a:r>
            <a:endParaRPr lang="en-US" sz="1000" dirty="0"/>
          </a:p>
          <a:p>
            <a:pPr indent="0" marL="0">
              <a:buNone/>
            </a:pPr>
            <a:r>
              <a:rPr lang="en-US" sz="1000" dirty="0">
                <a:solidFill>
                  <a:srgbClr val="242528"/>
                </a:solidFill>
                <a:latin typeface="Poppins" pitchFamily="34" charset="0"/>
                <a:ea typeface="Poppins" pitchFamily="34" charset="-122"/>
                <a:cs typeface="Poppins" pitchFamily="34" charset="-120"/>
              </a:rPr>
              <a:t>20% reconciliation</a:t>
            </a:r>
            <a:endParaRPr lang="en-US" sz="1000" dirty="0"/>
          </a:p>
          <a:p>
            <a:pPr indent="0" marL="0">
              <a:buNone/>
            </a:pPr>
            <a:r>
              <a:rPr lang="en-US" sz="1000" dirty="0">
                <a:solidFill>
                  <a:srgbClr val="242528"/>
                </a:solidFill>
                <a:latin typeface="Poppins" pitchFamily="34" charset="0"/>
                <a:ea typeface="Poppins" pitchFamily="34" charset="-122"/>
                <a:cs typeface="Poppins" pitchFamily="34" charset="-120"/>
              </a:rPr>
              <a:t>Decisions in weeks</a:t>
            </a:r>
            <a:endParaRPr lang="en-US" sz="1000" dirty="0"/>
          </a:p>
        </p:txBody>
      </p:sp>
      <p:sp>
        <p:nvSpPr>
          <p:cNvPr id="16" name="Text 13"/>
          <p:cNvSpPr/>
          <p:nvPr/>
        </p:nvSpPr>
        <p:spPr>
          <a:xfrm>
            <a:off x="4480560" y="2560320"/>
            <a:ext cx="365760" cy="365760"/>
          </a:xfrm>
          <a:prstGeom prst="rect">
            <a:avLst/>
          </a:prstGeom>
          <a:noFill/>
          <a:ln/>
        </p:spPr>
        <p:txBody>
          <a:bodyPr wrap="square" rtlCol="0" anchor="ctr"/>
          <a:lstStyle/>
          <a:p>
            <a:pPr algn="ctr" indent="0" marL="0">
              <a:buNone/>
            </a:pPr>
            <a:r>
              <a:rPr lang="en-US" sz="2000" dirty="0">
                <a:solidFill>
                  <a:srgbClr val="293FE1"/>
                </a:solidFill>
                <a:latin typeface="Poppins" pitchFamily="34" charset="0"/>
                <a:ea typeface="Poppins" pitchFamily="34" charset="-122"/>
                <a:cs typeface="Poppins" pitchFamily="34" charset="-120"/>
              </a:rPr>
              <a:t>→</a:t>
            </a:r>
            <a:endParaRPr lang="en-US" sz="2000" dirty="0"/>
          </a:p>
        </p:txBody>
      </p:sp>
      <p:sp>
        <p:nvSpPr>
          <p:cNvPr id="17" name="Shape 14"/>
          <p:cNvSpPr/>
          <p:nvPr/>
        </p:nvSpPr>
        <p:spPr>
          <a:xfrm>
            <a:off x="4754880" y="1097280"/>
            <a:ext cx="2011680" cy="3474720"/>
          </a:xfrm>
          <a:prstGeom prst="rect">
            <a:avLst/>
          </a:prstGeom>
          <a:solidFill>
            <a:srgbClr val="E8FFE8"/>
          </a:solidFill>
          <a:ln/>
        </p:spPr>
      </p:sp>
      <p:sp>
        <p:nvSpPr>
          <p:cNvPr id="18" name="Shape 15"/>
          <p:cNvSpPr/>
          <p:nvPr/>
        </p:nvSpPr>
        <p:spPr>
          <a:xfrm>
            <a:off x="5440680" y="1280160"/>
            <a:ext cx="640080" cy="640080"/>
          </a:xfrm>
          <a:prstGeom prst="ellipse">
            <a:avLst/>
          </a:prstGeom>
          <a:solidFill>
            <a:srgbClr val="1A8A3A"/>
          </a:solidFill>
          <a:ln/>
        </p:spPr>
      </p:sp>
      <p:sp>
        <p:nvSpPr>
          <p:cNvPr id="19" name="Text 16"/>
          <p:cNvSpPr/>
          <p:nvPr/>
        </p:nvSpPr>
        <p:spPr>
          <a:xfrm>
            <a:off x="5440680" y="1280160"/>
            <a:ext cx="640080" cy="640080"/>
          </a:xfrm>
          <a:prstGeom prst="rect">
            <a:avLst/>
          </a:prstGeom>
          <a:noFill/>
          <a:ln/>
        </p:spPr>
        <p:txBody>
          <a:bodyPr wrap="square"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3</a:t>
            </a:r>
            <a:endParaRPr lang="en-US" sz="2200" dirty="0"/>
          </a:p>
        </p:txBody>
      </p:sp>
      <p:sp>
        <p:nvSpPr>
          <p:cNvPr id="20" name="Text 17"/>
          <p:cNvSpPr/>
          <p:nvPr/>
        </p:nvSpPr>
        <p:spPr>
          <a:xfrm>
            <a:off x="4754880" y="2057400"/>
            <a:ext cx="2011680" cy="365760"/>
          </a:xfrm>
          <a:prstGeom prst="rect">
            <a:avLst/>
          </a:prstGeom>
          <a:noFill/>
          <a:ln/>
        </p:spPr>
        <p:txBody>
          <a:bodyPr wrap="square" rtlCol="0" anchor="ctr"/>
          <a:lstStyle/>
          <a:p>
            <a:pPr algn="ctr" indent="0" marL="0">
              <a:buNone/>
            </a:pPr>
            <a:r>
              <a:rPr lang="en-US" sz="1600" b="1" dirty="0">
                <a:solidFill>
                  <a:srgbClr val="1A8A3A"/>
                </a:solidFill>
                <a:latin typeface="Poppins" pitchFamily="34" charset="0"/>
                <a:ea typeface="Poppins" pitchFamily="34" charset="-122"/>
                <a:cs typeface="Poppins" pitchFamily="34" charset="-120"/>
              </a:rPr>
              <a:t>Optimised</a:t>
            </a:r>
            <a:endParaRPr lang="en-US" sz="1600" dirty="0"/>
          </a:p>
        </p:txBody>
      </p:sp>
      <p:sp>
        <p:nvSpPr>
          <p:cNvPr id="21" name="Text 18"/>
          <p:cNvSpPr/>
          <p:nvPr/>
        </p:nvSpPr>
        <p:spPr>
          <a:xfrm>
            <a:off x="4892040" y="2514600"/>
            <a:ext cx="1737360" cy="1828800"/>
          </a:xfrm>
          <a:prstGeom prst="rect">
            <a:avLst/>
          </a:prstGeom>
          <a:noFill/>
          <a:ln/>
        </p:spPr>
        <p:txBody>
          <a:bodyPr wrap="square" rtlCol="0" anchor="t"/>
          <a:lstStyle/>
          <a:p>
            <a:pPr indent="0" marL="0">
              <a:buNone/>
            </a:pPr>
            <a:r>
              <a:rPr lang="en-US" sz="1000" dirty="0">
                <a:solidFill>
                  <a:srgbClr val="242528"/>
                </a:solidFill>
                <a:latin typeface="Poppins" pitchFamily="34" charset="0"/>
                <a:ea typeface="Poppins" pitchFamily="34" charset="-122"/>
                <a:cs typeface="Poppins" pitchFamily="34" charset="-120"/>
              </a:rPr>
              <a:t>AI surfaces cross-solution patterns</a:t>
            </a:r>
            <a:endParaRPr lang="en-US" sz="1000" dirty="0"/>
          </a:p>
          <a:p>
            <a:pPr indent="0" marL="0">
              <a:buNone/>
            </a:pPr>
            <a:r>
              <a:rPr lang="en-US" sz="1000" dirty="0">
                <a:solidFill>
                  <a:srgbClr val="242528"/>
                </a:solidFill>
                <a:latin typeface="Poppins" pitchFamily="34" charset="0"/>
                <a:ea typeface="Poppins" pitchFamily="34" charset="-122"/>
                <a:cs typeface="Poppins" pitchFamily="34" charset="-120"/>
              </a:rPr>
              <a:t>Proactive intelligence</a:t>
            </a:r>
            <a:endParaRPr lang="en-US" sz="1000" dirty="0"/>
          </a:p>
          <a:p>
            <a:pPr indent="0" marL="0">
              <a:buNone/>
            </a:pPr>
            <a:r>
              <a:rPr lang="en-US" sz="1000" dirty="0">
                <a:solidFill>
                  <a:srgbClr val="242528"/>
                </a:solidFill>
                <a:latin typeface="Poppins" pitchFamily="34" charset="0"/>
                <a:ea typeface="Poppins" pitchFamily="34" charset="-122"/>
                <a:cs typeface="Poppins" pitchFamily="34" charset="-120"/>
              </a:rPr>
              <a:t>Automated alerts</a:t>
            </a:r>
            <a:endParaRPr lang="en-US" sz="1000" dirty="0"/>
          </a:p>
        </p:txBody>
      </p:sp>
      <p:sp>
        <p:nvSpPr>
          <p:cNvPr id="22" name="Text 19"/>
          <p:cNvSpPr/>
          <p:nvPr/>
        </p:nvSpPr>
        <p:spPr>
          <a:xfrm>
            <a:off x="6675120" y="2560320"/>
            <a:ext cx="365760" cy="365760"/>
          </a:xfrm>
          <a:prstGeom prst="rect">
            <a:avLst/>
          </a:prstGeom>
          <a:noFill/>
          <a:ln/>
        </p:spPr>
        <p:txBody>
          <a:bodyPr wrap="square" rtlCol="0" anchor="ctr"/>
          <a:lstStyle/>
          <a:p>
            <a:pPr algn="ctr" indent="0" marL="0">
              <a:buNone/>
            </a:pPr>
            <a:r>
              <a:rPr lang="en-US" sz="2000" dirty="0">
                <a:solidFill>
                  <a:srgbClr val="293FE1"/>
                </a:solidFill>
                <a:latin typeface="Poppins" pitchFamily="34" charset="0"/>
                <a:ea typeface="Poppins" pitchFamily="34" charset="-122"/>
                <a:cs typeface="Poppins" pitchFamily="34" charset="-120"/>
              </a:rPr>
              <a:t>→</a:t>
            </a:r>
            <a:endParaRPr lang="en-US" sz="2000" dirty="0"/>
          </a:p>
        </p:txBody>
      </p:sp>
      <p:sp>
        <p:nvSpPr>
          <p:cNvPr id="23" name="Shape 20"/>
          <p:cNvSpPr/>
          <p:nvPr/>
        </p:nvSpPr>
        <p:spPr>
          <a:xfrm>
            <a:off x="6949440" y="1097280"/>
            <a:ext cx="2011680" cy="3474720"/>
          </a:xfrm>
          <a:prstGeom prst="rect">
            <a:avLst/>
          </a:prstGeom>
          <a:solidFill>
            <a:srgbClr val="E0E8FF"/>
          </a:solidFill>
          <a:ln/>
        </p:spPr>
      </p:sp>
      <p:sp>
        <p:nvSpPr>
          <p:cNvPr id="24" name="Shape 21"/>
          <p:cNvSpPr/>
          <p:nvPr/>
        </p:nvSpPr>
        <p:spPr>
          <a:xfrm>
            <a:off x="7635240" y="1280160"/>
            <a:ext cx="640080" cy="640080"/>
          </a:xfrm>
          <a:prstGeom prst="ellipse">
            <a:avLst/>
          </a:prstGeom>
          <a:solidFill>
            <a:srgbClr val="09216B"/>
          </a:solidFill>
          <a:ln/>
        </p:spPr>
      </p:sp>
      <p:sp>
        <p:nvSpPr>
          <p:cNvPr id="25" name="Text 22"/>
          <p:cNvSpPr/>
          <p:nvPr/>
        </p:nvSpPr>
        <p:spPr>
          <a:xfrm>
            <a:off x="7635240" y="1280160"/>
            <a:ext cx="640080" cy="640080"/>
          </a:xfrm>
          <a:prstGeom prst="rect">
            <a:avLst/>
          </a:prstGeom>
          <a:noFill/>
          <a:ln/>
        </p:spPr>
        <p:txBody>
          <a:bodyPr wrap="square"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4</a:t>
            </a:r>
            <a:endParaRPr lang="en-US" sz="2200" dirty="0"/>
          </a:p>
        </p:txBody>
      </p:sp>
      <p:sp>
        <p:nvSpPr>
          <p:cNvPr id="26" name="Text 23"/>
          <p:cNvSpPr/>
          <p:nvPr/>
        </p:nvSpPr>
        <p:spPr>
          <a:xfrm>
            <a:off x="6949440" y="2057400"/>
            <a:ext cx="2011680" cy="365760"/>
          </a:xfrm>
          <a:prstGeom prst="rect">
            <a:avLst/>
          </a:prstGeom>
          <a:noFill/>
          <a:ln/>
        </p:spPr>
        <p:txBody>
          <a:bodyPr wrap="square" rtlCol="0" anchor="ctr"/>
          <a:lstStyle/>
          <a:p>
            <a:pPr algn="ctr" indent="0" marL="0">
              <a:buNone/>
            </a:pPr>
            <a:r>
              <a:rPr lang="en-US" sz="1600" b="1" dirty="0">
                <a:solidFill>
                  <a:srgbClr val="09216B"/>
                </a:solidFill>
                <a:latin typeface="Poppins" pitchFamily="34" charset="0"/>
                <a:ea typeface="Poppins" pitchFamily="34" charset="-122"/>
                <a:cs typeface="Poppins" pitchFamily="34" charset="-120"/>
              </a:rPr>
              <a:t>Predictive</a:t>
            </a:r>
            <a:endParaRPr lang="en-US" sz="1600" dirty="0"/>
          </a:p>
        </p:txBody>
      </p:sp>
      <p:sp>
        <p:nvSpPr>
          <p:cNvPr id="27" name="Text 24"/>
          <p:cNvSpPr/>
          <p:nvPr/>
        </p:nvSpPr>
        <p:spPr>
          <a:xfrm>
            <a:off x="7086600" y="2514600"/>
            <a:ext cx="1737360" cy="1828800"/>
          </a:xfrm>
          <a:prstGeom prst="rect">
            <a:avLst/>
          </a:prstGeom>
          <a:noFill/>
          <a:ln/>
        </p:spPr>
        <p:txBody>
          <a:bodyPr wrap="square" rtlCol="0" anchor="t"/>
          <a:lstStyle/>
          <a:p>
            <a:pPr indent="0" marL="0">
              <a:buNone/>
            </a:pPr>
            <a:r>
              <a:rPr lang="en-US" sz="1000" dirty="0">
                <a:solidFill>
                  <a:srgbClr val="242528"/>
                </a:solidFill>
                <a:latin typeface="Poppins" pitchFamily="34" charset="0"/>
                <a:ea typeface="Poppins" pitchFamily="34" charset="-122"/>
                <a:cs typeface="Poppins" pitchFamily="34" charset="-120"/>
              </a:rPr>
              <a:t>AI anticipates market shifts</a:t>
            </a:r>
            <a:endParaRPr lang="en-US" sz="1000" dirty="0"/>
          </a:p>
          <a:p>
            <a:pPr indent="0" marL="0">
              <a:buNone/>
            </a:pPr>
            <a:r>
              <a:rPr lang="en-US" sz="1000" dirty="0">
                <a:solidFill>
                  <a:srgbClr val="242528"/>
                </a:solidFill>
                <a:latin typeface="Poppins" pitchFamily="34" charset="0"/>
                <a:ea typeface="Poppins" pitchFamily="34" charset="-122"/>
                <a:cs typeface="Poppins" pitchFamily="34" charset="-120"/>
              </a:rPr>
              <a:t>Predictive foresight</a:t>
            </a:r>
            <a:endParaRPr lang="en-US" sz="1000" dirty="0"/>
          </a:p>
          <a:p>
            <a:pPr indent="0" marL="0">
              <a:buNone/>
            </a:pPr>
            <a:r>
              <a:rPr lang="en-US" sz="1000" dirty="0">
                <a:solidFill>
                  <a:srgbClr val="242528"/>
                </a:solidFill>
                <a:latin typeface="Poppins" pitchFamily="34" charset="0"/>
                <a:ea typeface="Poppins" pitchFamily="34" charset="-122"/>
                <a:cs typeface="Poppins" pitchFamily="34" charset="-120"/>
              </a:rPr>
              <a:t>First-mover advantage</a:t>
            </a:r>
            <a:endParaRPr lang="en-US" sz="1000" dirty="0"/>
          </a:p>
        </p:txBody>
      </p:sp>
      <p:sp>
        <p:nvSpPr>
          <p:cNvPr id="28" name="Text 25"/>
          <p:cNvSpPr/>
          <p:nvPr/>
        </p:nvSpPr>
        <p:spPr>
          <a:xfrm>
            <a:off x="0" y="4709160"/>
            <a:ext cx="9144000" cy="320040"/>
          </a:xfrm>
          <a:prstGeom prst="rect">
            <a:avLst/>
          </a:prstGeom>
          <a:noFill/>
          <a:ln/>
        </p:spPr>
        <p:txBody>
          <a:bodyPr wrap="square" rtlCol="0" anchor="ctr"/>
          <a:lstStyle/>
          <a:p>
            <a:pPr algn="ctr" indent="0" marL="0">
              <a:buNone/>
            </a:pPr>
            <a:r>
              <a:rPr lang="en-US" sz="800" dirty="0">
                <a:solidFill>
                  <a:srgbClr val="676B75"/>
                </a:solidFill>
                <a:latin typeface="Poppins" pitchFamily="34" charset="0"/>
                <a:ea typeface="Poppins" pitchFamily="34" charset="-122"/>
                <a:cs typeface="Poppins" pitchFamily="34" charset="-120"/>
              </a:rPr>
              <a:t>globaldata.com</a:t>
            </a:r>
            <a:endParaRPr lang="en-US" sz="800" dirty="0"/>
          </a:p>
        </p:txBody>
      </p:sp>
      <p:sp>
        <p:nvSpPr>
          <p:cNvPr id="29" name="Text 26"/>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676B75"/>
                </a:solidFill>
                <a:latin typeface="Poppins" pitchFamily="34" charset="0"/>
                <a:ea typeface="Poppins" pitchFamily="34" charset="-122"/>
                <a:cs typeface="Poppins"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4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502920" cy="502920"/>
          </a:xfrm>
          <a:prstGeom prst="rect">
            <a:avLst/>
          </a:prstGeom>
        </p:spPr>
      </p:pic>
      <p:sp>
        <p:nvSpPr>
          <p:cNvPr id="3"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FFFFFF"/>
                </a:solidFill>
                <a:latin typeface="Poppins" pitchFamily="34" charset="0"/>
                <a:ea typeface="Poppins" pitchFamily="34" charset="-122"/>
                <a:cs typeface="Poppins" pitchFamily="34" charset="-120"/>
              </a:rPr>
              <a:t>The Proof</a:t>
            </a:r>
            <a:endParaRPr lang="en-US" sz="2800" dirty="0"/>
          </a:p>
        </p:txBody>
      </p:sp>
      <p:sp>
        <p:nvSpPr>
          <p:cNvPr id="4" name="Shape 1"/>
          <p:cNvSpPr/>
          <p:nvPr/>
        </p:nvSpPr>
        <p:spPr>
          <a:xfrm>
            <a:off x="548640" y="960120"/>
            <a:ext cx="1097280" cy="36576"/>
          </a:xfrm>
          <a:prstGeom prst="rect">
            <a:avLst/>
          </a:prstGeom>
          <a:solidFill>
            <a:srgbClr val="293FE1"/>
          </a:solidFill>
          <a:ln/>
        </p:spPr>
      </p:sp>
      <p:sp>
        <p:nvSpPr>
          <p:cNvPr id="5" name="Text 2"/>
          <p:cNvSpPr/>
          <p:nvPr/>
        </p:nvSpPr>
        <p:spPr>
          <a:xfrm>
            <a:off x="548640" y="1097280"/>
            <a:ext cx="7315200" cy="320040"/>
          </a:xfrm>
          <a:prstGeom prst="rect">
            <a:avLst/>
          </a:prstGeom>
          <a:noFill/>
          <a:ln/>
        </p:spPr>
        <p:txBody>
          <a:bodyPr wrap="square" rtlCol="0" anchor="ctr"/>
          <a:lstStyle/>
          <a:p>
            <a:pPr indent="0" marL="0">
              <a:buNone/>
            </a:pPr>
            <a:r>
              <a:rPr lang="en-US" sz="1300" i="1" dirty="0">
                <a:solidFill>
                  <a:srgbClr val="D1D5D8"/>
                </a:solidFill>
                <a:latin typeface="Poppins" pitchFamily="34" charset="0"/>
                <a:ea typeface="Poppins" pitchFamily="34" charset="-122"/>
                <a:cs typeface="Poppins" pitchFamily="34" charset="-120"/>
              </a:rPr>
              <a:t>Leading global FMCG companies are already seeing results</a:t>
            </a:r>
            <a:endParaRPr lang="en-US" sz="1300" dirty="0"/>
          </a:p>
        </p:txBody>
      </p:sp>
      <p:sp>
        <p:nvSpPr>
          <p:cNvPr id="6" name="Shape 3"/>
          <p:cNvSpPr/>
          <p:nvPr/>
        </p:nvSpPr>
        <p:spPr>
          <a:xfrm>
            <a:off x="548640" y="1645920"/>
            <a:ext cx="1920240" cy="2560320"/>
          </a:xfrm>
          <a:prstGeom prst="rect">
            <a:avLst/>
          </a:prstGeom>
          <a:solidFill>
            <a:srgbClr val="2A3145"/>
          </a:solidFill>
          <a:ln/>
        </p:spPr>
      </p:sp>
      <p:sp>
        <p:nvSpPr>
          <p:cNvPr id="7" name="Text 4"/>
          <p:cNvSpPr/>
          <p:nvPr/>
        </p:nvSpPr>
        <p:spPr>
          <a:xfrm>
            <a:off x="548640" y="1828800"/>
            <a:ext cx="1920240" cy="914400"/>
          </a:xfrm>
          <a:prstGeom prst="rect">
            <a:avLst/>
          </a:prstGeom>
          <a:noFill/>
          <a:ln/>
        </p:spPr>
        <p:txBody>
          <a:bodyPr wrap="square" rtlCol="0" anchor="ctr"/>
          <a:lstStyle/>
          <a:p>
            <a:pPr algn="ctr" indent="0" marL="0">
              <a:buNone/>
            </a:pPr>
            <a:r>
              <a:rPr lang="en-US" sz="5200" b="1" dirty="0">
                <a:solidFill>
                  <a:srgbClr val="293FE1"/>
                </a:solidFill>
                <a:latin typeface="Poppins" pitchFamily="34" charset="0"/>
                <a:ea typeface="Poppins" pitchFamily="34" charset="-122"/>
                <a:cs typeface="Poppins" pitchFamily="34" charset="-120"/>
              </a:rPr>
              <a:t>3×</a:t>
            </a:r>
            <a:endParaRPr lang="en-US" sz="5200" dirty="0"/>
          </a:p>
        </p:txBody>
      </p:sp>
      <p:sp>
        <p:nvSpPr>
          <p:cNvPr id="8" name="Text 5"/>
          <p:cNvSpPr/>
          <p:nvPr/>
        </p:nvSpPr>
        <p:spPr>
          <a:xfrm>
            <a:off x="548640" y="2926080"/>
            <a:ext cx="1920240" cy="914400"/>
          </a:xfrm>
          <a:prstGeom prst="rect">
            <a:avLst/>
          </a:prstGeom>
          <a:noFill/>
          <a:ln/>
        </p:spPr>
        <p:txBody>
          <a:bodyPr wrap="square" rtlCol="0" anchor="t"/>
          <a:lstStyle/>
          <a:p>
            <a:pPr algn="ctr" indent="0" marL="0">
              <a:buNone/>
            </a:pPr>
            <a:r>
              <a:rPr lang="en-US" sz="1300" dirty="0">
                <a:solidFill>
                  <a:srgbClr val="FFFFFF"/>
                </a:solidFill>
                <a:latin typeface="Poppins" pitchFamily="34" charset="0"/>
                <a:ea typeface="Poppins" pitchFamily="34" charset="-122"/>
                <a:cs typeface="Poppins" pitchFamily="34" charset="-120"/>
              </a:rPr>
              <a:t>Faster</a:t>
            </a:r>
            <a:endParaRPr lang="en-US" sz="1300" dirty="0"/>
          </a:p>
          <a:p>
            <a:pPr algn="ctr" indent="0" marL="0">
              <a:buNone/>
            </a:pPr>
            <a:r>
              <a:rPr lang="en-US" sz="1300" dirty="0">
                <a:solidFill>
                  <a:srgbClr val="FFFFFF"/>
                </a:solidFill>
                <a:latin typeface="Poppins" pitchFamily="34" charset="0"/>
                <a:ea typeface="Poppins" pitchFamily="34" charset="-122"/>
                <a:cs typeface="Poppins" pitchFamily="34" charset="-120"/>
              </a:rPr>
              <a:t>Decisions</a:t>
            </a:r>
            <a:endParaRPr lang="en-US" sz="1300" dirty="0"/>
          </a:p>
        </p:txBody>
      </p:sp>
      <p:sp>
        <p:nvSpPr>
          <p:cNvPr id="9" name="Shape 6"/>
          <p:cNvSpPr/>
          <p:nvPr/>
        </p:nvSpPr>
        <p:spPr>
          <a:xfrm>
            <a:off x="2651760" y="1645920"/>
            <a:ext cx="1920240" cy="2560320"/>
          </a:xfrm>
          <a:prstGeom prst="rect">
            <a:avLst/>
          </a:prstGeom>
          <a:solidFill>
            <a:srgbClr val="2A3145"/>
          </a:solidFill>
          <a:ln/>
        </p:spPr>
      </p:sp>
      <p:sp>
        <p:nvSpPr>
          <p:cNvPr id="10" name="Text 7"/>
          <p:cNvSpPr/>
          <p:nvPr/>
        </p:nvSpPr>
        <p:spPr>
          <a:xfrm>
            <a:off x="2651760" y="1828800"/>
            <a:ext cx="1920240" cy="914400"/>
          </a:xfrm>
          <a:prstGeom prst="rect">
            <a:avLst/>
          </a:prstGeom>
          <a:noFill/>
          <a:ln/>
        </p:spPr>
        <p:txBody>
          <a:bodyPr wrap="square" rtlCol="0" anchor="ctr"/>
          <a:lstStyle/>
          <a:p>
            <a:pPr algn="ctr" indent="0" marL="0">
              <a:buNone/>
            </a:pPr>
            <a:r>
              <a:rPr lang="en-US" sz="5200" b="1" dirty="0">
                <a:solidFill>
                  <a:srgbClr val="293FE1"/>
                </a:solidFill>
                <a:latin typeface="Poppins" pitchFamily="34" charset="0"/>
                <a:ea typeface="Poppins" pitchFamily="34" charset="-122"/>
                <a:cs typeface="Poppins" pitchFamily="34" charset="-120"/>
              </a:rPr>
              <a:t>70%</a:t>
            </a:r>
            <a:endParaRPr lang="en-US" sz="5200" dirty="0"/>
          </a:p>
        </p:txBody>
      </p:sp>
      <p:sp>
        <p:nvSpPr>
          <p:cNvPr id="11" name="Text 8"/>
          <p:cNvSpPr/>
          <p:nvPr/>
        </p:nvSpPr>
        <p:spPr>
          <a:xfrm>
            <a:off x="2651760" y="2926080"/>
            <a:ext cx="1920240" cy="914400"/>
          </a:xfrm>
          <a:prstGeom prst="rect">
            <a:avLst/>
          </a:prstGeom>
          <a:noFill/>
          <a:ln/>
        </p:spPr>
        <p:txBody>
          <a:bodyPr wrap="square" rtlCol="0" anchor="t"/>
          <a:lstStyle/>
          <a:p>
            <a:pPr algn="ctr" indent="0" marL="0">
              <a:buNone/>
            </a:pPr>
            <a:r>
              <a:rPr lang="en-US" sz="1300" dirty="0">
                <a:solidFill>
                  <a:srgbClr val="FFFFFF"/>
                </a:solidFill>
                <a:latin typeface="Poppins" pitchFamily="34" charset="0"/>
                <a:ea typeface="Poppins" pitchFamily="34" charset="-122"/>
                <a:cs typeface="Poppins" pitchFamily="34" charset="-120"/>
              </a:rPr>
              <a:t>Reduction in</a:t>
            </a:r>
            <a:endParaRPr lang="en-US" sz="1300" dirty="0"/>
          </a:p>
          <a:p>
            <a:pPr algn="ctr" indent="0" marL="0">
              <a:buNone/>
            </a:pPr>
            <a:r>
              <a:rPr lang="en-US" sz="1300" dirty="0">
                <a:solidFill>
                  <a:srgbClr val="FFFFFF"/>
                </a:solidFill>
                <a:latin typeface="Poppins" pitchFamily="34" charset="0"/>
                <a:ea typeface="Poppins" pitchFamily="34" charset="-122"/>
                <a:cs typeface="Poppins" pitchFamily="34" charset="-120"/>
              </a:rPr>
              <a:t>Time to Insight</a:t>
            </a:r>
            <a:endParaRPr lang="en-US" sz="1300" dirty="0"/>
          </a:p>
        </p:txBody>
      </p:sp>
      <p:sp>
        <p:nvSpPr>
          <p:cNvPr id="12" name="Shape 9"/>
          <p:cNvSpPr/>
          <p:nvPr/>
        </p:nvSpPr>
        <p:spPr>
          <a:xfrm>
            <a:off x="4754880" y="1645920"/>
            <a:ext cx="1920240" cy="2560320"/>
          </a:xfrm>
          <a:prstGeom prst="rect">
            <a:avLst/>
          </a:prstGeom>
          <a:solidFill>
            <a:srgbClr val="2A3145"/>
          </a:solidFill>
          <a:ln/>
        </p:spPr>
      </p:sp>
      <p:sp>
        <p:nvSpPr>
          <p:cNvPr id="13" name="Text 10"/>
          <p:cNvSpPr/>
          <p:nvPr/>
        </p:nvSpPr>
        <p:spPr>
          <a:xfrm>
            <a:off x="4754880" y="1828800"/>
            <a:ext cx="1920240" cy="914400"/>
          </a:xfrm>
          <a:prstGeom prst="rect">
            <a:avLst/>
          </a:prstGeom>
          <a:noFill/>
          <a:ln/>
        </p:spPr>
        <p:txBody>
          <a:bodyPr wrap="square" rtlCol="0" anchor="ctr"/>
          <a:lstStyle/>
          <a:p>
            <a:pPr algn="ctr" indent="0" marL="0">
              <a:buNone/>
            </a:pPr>
            <a:r>
              <a:rPr lang="en-US" sz="5200" b="1" dirty="0">
                <a:solidFill>
                  <a:srgbClr val="293FE1"/>
                </a:solidFill>
                <a:latin typeface="Poppins" pitchFamily="34" charset="0"/>
                <a:ea typeface="Poppins" pitchFamily="34" charset="-122"/>
                <a:cs typeface="Poppins" pitchFamily="34" charset="-120"/>
              </a:rPr>
              <a:t>2×</a:t>
            </a:r>
            <a:endParaRPr lang="en-US" sz="5200" dirty="0"/>
          </a:p>
        </p:txBody>
      </p:sp>
      <p:sp>
        <p:nvSpPr>
          <p:cNvPr id="14" name="Text 11"/>
          <p:cNvSpPr/>
          <p:nvPr/>
        </p:nvSpPr>
        <p:spPr>
          <a:xfrm>
            <a:off x="4754880" y="2926080"/>
            <a:ext cx="1920240" cy="914400"/>
          </a:xfrm>
          <a:prstGeom prst="rect">
            <a:avLst/>
          </a:prstGeom>
          <a:noFill/>
          <a:ln/>
        </p:spPr>
        <p:txBody>
          <a:bodyPr wrap="square" rtlCol="0" anchor="t"/>
          <a:lstStyle/>
          <a:p>
            <a:pPr algn="ctr" indent="0" marL="0">
              <a:buNone/>
            </a:pPr>
            <a:r>
              <a:rPr lang="en-US" sz="1300" dirty="0">
                <a:solidFill>
                  <a:srgbClr val="FFFFFF"/>
                </a:solidFill>
                <a:latin typeface="Poppins" pitchFamily="34" charset="0"/>
                <a:ea typeface="Poppins" pitchFamily="34" charset="-122"/>
                <a:cs typeface="Poppins" pitchFamily="34" charset="-120"/>
              </a:rPr>
              <a:t>Launch</a:t>
            </a:r>
            <a:endParaRPr lang="en-US" sz="1300" dirty="0"/>
          </a:p>
          <a:p>
            <a:pPr algn="ctr" indent="0" marL="0">
              <a:buNone/>
            </a:pPr>
            <a:r>
              <a:rPr lang="en-US" sz="1300" dirty="0">
                <a:solidFill>
                  <a:srgbClr val="FFFFFF"/>
                </a:solidFill>
                <a:latin typeface="Poppins" pitchFamily="34" charset="0"/>
                <a:ea typeface="Poppins" pitchFamily="34" charset="-122"/>
                <a:cs typeface="Poppins" pitchFamily="34" charset="-120"/>
              </a:rPr>
              <a:t>Success Rate</a:t>
            </a:r>
            <a:endParaRPr lang="en-US" sz="1300" dirty="0"/>
          </a:p>
        </p:txBody>
      </p:sp>
      <p:sp>
        <p:nvSpPr>
          <p:cNvPr id="15" name="Shape 12"/>
          <p:cNvSpPr/>
          <p:nvPr/>
        </p:nvSpPr>
        <p:spPr>
          <a:xfrm>
            <a:off x="6858000" y="1645920"/>
            <a:ext cx="1920240" cy="2560320"/>
          </a:xfrm>
          <a:prstGeom prst="rect">
            <a:avLst/>
          </a:prstGeom>
          <a:solidFill>
            <a:srgbClr val="2A3145"/>
          </a:solidFill>
          <a:ln/>
        </p:spPr>
      </p:sp>
      <p:sp>
        <p:nvSpPr>
          <p:cNvPr id="16" name="Text 13"/>
          <p:cNvSpPr/>
          <p:nvPr/>
        </p:nvSpPr>
        <p:spPr>
          <a:xfrm>
            <a:off x="6858000" y="1828800"/>
            <a:ext cx="1920240" cy="914400"/>
          </a:xfrm>
          <a:prstGeom prst="rect">
            <a:avLst/>
          </a:prstGeom>
          <a:noFill/>
          <a:ln/>
        </p:spPr>
        <p:txBody>
          <a:bodyPr wrap="square" rtlCol="0" anchor="ctr"/>
          <a:lstStyle/>
          <a:p>
            <a:pPr algn="ctr" indent="0" marL="0">
              <a:buNone/>
            </a:pPr>
            <a:r>
              <a:rPr lang="en-US" sz="5200" b="1" dirty="0">
                <a:solidFill>
                  <a:srgbClr val="293FE1"/>
                </a:solidFill>
                <a:latin typeface="Poppins" pitchFamily="34" charset="0"/>
                <a:ea typeface="Poppins" pitchFamily="34" charset="-122"/>
                <a:cs typeface="Poppins" pitchFamily="34" charset="-120"/>
              </a:rPr>
              <a:t>30%</a:t>
            </a:r>
            <a:endParaRPr lang="en-US" sz="5200" dirty="0"/>
          </a:p>
        </p:txBody>
      </p:sp>
      <p:sp>
        <p:nvSpPr>
          <p:cNvPr id="17" name="Text 14"/>
          <p:cNvSpPr/>
          <p:nvPr/>
        </p:nvSpPr>
        <p:spPr>
          <a:xfrm>
            <a:off x="6858000" y="2926080"/>
            <a:ext cx="1920240" cy="914400"/>
          </a:xfrm>
          <a:prstGeom prst="rect">
            <a:avLst/>
          </a:prstGeom>
          <a:noFill/>
          <a:ln/>
        </p:spPr>
        <p:txBody>
          <a:bodyPr wrap="square" rtlCol="0" anchor="t"/>
          <a:lstStyle/>
          <a:p>
            <a:pPr algn="ctr" indent="0" marL="0">
              <a:buNone/>
            </a:pPr>
            <a:r>
              <a:rPr lang="en-US" sz="1300" dirty="0">
                <a:solidFill>
                  <a:srgbClr val="FFFFFF"/>
                </a:solidFill>
                <a:latin typeface="Poppins" pitchFamily="34" charset="0"/>
                <a:ea typeface="Poppins" pitchFamily="34" charset="-122"/>
                <a:cs typeface="Poppins" pitchFamily="34" charset="-120"/>
              </a:rPr>
              <a:t>Lower Total</a:t>
            </a:r>
            <a:endParaRPr lang="en-US" sz="1300" dirty="0"/>
          </a:p>
          <a:p>
            <a:pPr algn="ctr" indent="0" marL="0">
              <a:buNone/>
            </a:pPr>
            <a:r>
              <a:rPr lang="en-US" sz="1300" dirty="0">
                <a:solidFill>
                  <a:srgbClr val="FFFFFF"/>
                </a:solidFill>
                <a:latin typeface="Poppins" pitchFamily="34" charset="0"/>
                <a:ea typeface="Poppins" pitchFamily="34" charset="-122"/>
                <a:cs typeface="Poppins" pitchFamily="34" charset="-120"/>
              </a:rPr>
              <a:t>Cost of Ownership</a:t>
            </a:r>
            <a:endParaRPr lang="en-US" sz="1300" dirty="0"/>
          </a:p>
        </p:txBody>
      </p:sp>
      <p:sp>
        <p:nvSpPr>
          <p:cNvPr id="18" name="Text 15"/>
          <p:cNvSpPr/>
          <p:nvPr/>
        </p:nvSpPr>
        <p:spPr>
          <a:xfrm>
            <a:off x="0" y="4709160"/>
            <a:ext cx="9144000" cy="320040"/>
          </a:xfrm>
          <a:prstGeom prst="rect">
            <a:avLst/>
          </a:prstGeom>
          <a:noFill/>
          <a:ln/>
        </p:spPr>
        <p:txBody>
          <a:bodyPr wrap="square" rtlCol="0" anchor="ctr"/>
          <a:lstStyle/>
          <a:p>
            <a:pPr algn="ctr" indent="0" marL="0">
              <a:buNone/>
            </a:pPr>
            <a:r>
              <a:rPr lang="en-US" sz="800" dirty="0">
                <a:solidFill>
                  <a:srgbClr val="676B75"/>
                </a:solidFill>
                <a:latin typeface="Poppins" pitchFamily="34" charset="0"/>
                <a:ea typeface="Poppins" pitchFamily="34" charset="-122"/>
                <a:cs typeface="Poppins" pitchFamily="34" charset="-120"/>
              </a:rPr>
              <a:t>globaldata.com</a:t>
            </a:r>
            <a:endParaRPr lang="en-US" sz="800" dirty="0"/>
          </a:p>
        </p:txBody>
      </p:sp>
      <p:sp>
        <p:nvSpPr>
          <p:cNvPr id="19" name="Text 16"/>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676B75"/>
                </a:solidFill>
                <a:latin typeface="Poppins" pitchFamily="34" charset="0"/>
                <a:ea typeface="Poppins" pitchFamily="34" charset="-122"/>
                <a:cs typeface="Poppins"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502920" cy="502920"/>
          </a:xfrm>
          <a:prstGeom prst="rect">
            <a:avLst/>
          </a:prstGeom>
        </p:spPr>
      </p:pic>
      <p:sp>
        <p:nvSpPr>
          <p:cNvPr id="3" name="Text 0"/>
          <p:cNvSpPr/>
          <p:nvPr/>
        </p:nvSpPr>
        <p:spPr>
          <a:xfrm>
            <a:off x="548640" y="274320"/>
            <a:ext cx="7315200" cy="457200"/>
          </a:xfrm>
          <a:prstGeom prst="rect">
            <a:avLst/>
          </a:prstGeom>
          <a:noFill/>
          <a:ln/>
        </p:spPr>
        <p:txBody>
          <a:bodyPr wrap="square" rtlCol="0" anchor="ctr"/>
          <a:lstStyle/>
          <a:p>
            <a:pPr indent="0" marL="0">
              <a:buNone/>
            </a:pPr>
            <a:r>
              <a:rPr lang="en-US" sz="2400" b="1" dirty="0">
                <a:solidFill>
                  <a:srgbClr val="242528"/>
                </a:solidFill>
                <a:latin typeface="Poppins" pitchFamily="34" charset="0"/>
                <a:ea typeface="Poppins" pitchFamily="34" charset="-122"/>
                <a:cs typeface="Poppins" pitchFamily="34" charset="-120"/>
              </a:rPr>
              <a:t>Why Not Just DIY?</a:t>
            </a:r>
            <a:endParaRPr lang="en-US" sz="2400" dirty="0"/>
          </a:p>
        </p:txBody>
      </p:sp>
      <p:sp>
        <p:nvSpPr>
          <p:cNvPr id="4" name="Shape 1"/>
          <p:cNvSpPr/>
          <p:nvPr/>
        </p:nvSpPr>
        <p:spPr>
          <a:xfrm>
            <a:off x="548640" y="777240"/>
            <a:ext cx="1097280" cy="36576"/>
          </a:xfrm>
          <a:prstGeom prst="rect">
            <a:avLst/>
          </a:prstGeom>
          <a:solidFill>
            <a:srgbClr val="293FE1"/>
          </a:solidFill>
          <a:ln/>
        </p:spPr>
      </p:sp>
      <p:sp>
        <p:nvSpPr>
          <p:cNvPr id="5" name="Shape 2"/>
          <p:cNvSpPr/>
          <p:nvPr/>
        </p:nvSpPr>
        <p:spPr>
          <a:xfrm>
            <a:off x="457200" y="1097280"/>
            <a:ext cx="3931920" cy="3383280"/>
          </a:xfrm>
          <a:prstGeom prst="rect">
            <a:avLst/>
          </a:prstGeom>
          <a:solidFill>
            <a:srgbClr val="F2F2F2"/>
          </a:solidFill>
          <a:ln/>
        </p:spPr>
      </p:sp>
      <p:sp>
        <p:nvSpPr>
          <p:cNvPr id="6" name="Text 3"/>
          <p:cNvSpPr/>
          <p:nvPr/>
        </p:nvSpPr>
        <p:spPr>
          <a:xfrm>
            <a:off x="640080" y="1188720"/>
            <a:ext cx="3566160" cy="365760"/>
          </a:xfrm>
          <a:prstGeom prst="rect">
            <a:avLst/>
          </a:prstGeom>
          <a:noFill/>
          <a:ln/>
        </p:spPr>
        <p:txBody>
          <a:bodyPr wrap="square" rtlCol="0" anchor="ctr"/>
          <a:lstStyle/>
          <a:p>
            <a:pPr indent="0" marL="0">
              <a:buNone/>
            </a:pPr>
            <a:r>
              <a:rPr lang="en-US" sz="1600" b="1" dirty="0">
                <a:solidFill>
                  <a:srgbClr val="CC3333"/>
                </a:solidFill>
                <a:latin typeface="Poppins" pitchFamily="34" charset="0"/>
                <a:ea typeface="Poppins" pitchFamily="34" charset="-122"/>
                <a:cs typeface="Poppins" pitchFamily="34" charset="-120"/>
              </a:rPr>
              <a:t>Build It Yourself</a:t>
            </a:r>
            <a:endParaRPr lang="en-US" sz="1600" dirty="0"/>
          </a:p>
        </p:txBody>
      </p:sp>
      <p:sp>
        <p:nvSpPr>
          <p:cNvPr id="7" name="Text 4"/>
          <p:cNvSpPr/>
          <p:nvPr/>
        </p:nvSpPr>
        <p:spPr>
          <a:xfrm>
            <a:off x="640080" y="1645920"/>
            <a:ext cx="3566160" cy="2560320"/>
          </a:xfrm>
          <a:prstGeom prst="rect">
            <a:avLst/>
          </a:prstGeom>
          <a:noFill/>
          <a:ln/>
        </p:spPr>
        <p:txBody>
          <a:bodyPr wrap="square" rtlCol="0" anchor="ctr"/>
          <a:lstStyle/>
          <a:p>
            <a:pPr marL="342900" indent="-342900">
              <a:spcAft>
                <a:spcPts val="600"/>
              </a:spcAft>
              <a:buSzPct val="100000"/>
              <a:buChar char="•"/>
            </a:pPr>
            <a:r>
              <a:rPr lang="en-US" sz="1000" dirty="0">
                <a:solidFill>
                  <a:srgbClr val="242528"/>
                </a:solidFill>
                <a:latin typeface="Poppins" pitchFamily="34" charset="0"/>
                <a:ea typeface="Poppins" pitchFamily="34" charset="-122"/>
                <a:cs typeface="Poppins" pitchFamily="34" charset="-120"/>
              </a:rPr>
              <a:t>14 separate contracts, 14 taxonomies</a:t>
            </a:r>
            <a:endParaRPr lang="en-US" sz="1000" dirty="0"/>
          </a:p>
          <a:p>
            <a:pPr marL="342900" indent="-342900">
              <a:spcAft>
                <a:spcPts val="600"/>
              </a:spcAft>
              <a:buSzPct val="100000"/>
              <a:buChar char="•"/>
            </a:pPr>
            <a:r>
              <a:rPr lang="en-US" sz="1000" dirty="0">
                <a:solidFill>
                  <a:srgbClr val="242528"/>
                </a:solidFill>
                <a:latin typeface="Poppins" pitchFamily="34" charset="0"/>
                <a:ea typeface="Poppins" pitchFamily="34" charset="-122"/>
                <a:cs typeface="Poppins" pitchFamily="34" charset="-120"/>
              </a:rPr>
              <a:t>18 months becomes 36 months</a:t>
            </a:r>
            <a:endParaRPr lang="en-US" sz="1000" dirty="0"/>
          </a:p>
          <a:p>
            <a:pPr marL="342900" indent="-342900">
              <a:spcAft>
                <a:spcPts val="600"/>
              </a:spcAft>
              <a:buSzPct val="100000"/>
              <a:buChar char="•"/>
            </a:pPr>
            <a:r>
              <a:rPr lang="en-US" sz="1000" dirty="0">
                <a:solidFill>
                  <a:srgbClr val="242528"/>
                </a:solidFill>
                <a:latin typeface="Poppins" pitchFamily="34" charset="0"/>
                <a:ea typeface="Poppins" pitchFamily="34" charset="-122"/>
                <a:cs typeface="Poppins" pitchFamily="34" charset="-120"/>
              </a:rPr>
              <a:t>3 FTEs just to keep pipes connected</a:t>
            </a:r>
            <a:endParaRPr lang="en-US" sz="1000" dirty="0"/>
          </a:p>
          <a:p>
            <a:pPr marL="342900" indent="-342900">
              <a:spcAft>
                <a:spcPts val="600"/>
              </a:spcAft>
              <a:buSzPct val="100000"/>
              <a:buChar char="•"/>
            </a:pPr>
            <a:r>
              <a:rPr lang="en-US" sz="1000" dirty="0">
                <a:solidFill>
                  <a:srgbClr val="242528"/>
                </a:solidFill>
                <a:latin typeface="Poppins" pitchFamily="34" charset="0"/>
                <a:ea typeface="Poppins" pitchFamily="34" charset="-122"/>
                <a:cs typeface="Poppins" pitchFamily="34" charset="-120"/>
              </a:rPr>
              <a:t>No cross-pollination between tools</a:t>
            </a:r>
            <a:endParaRPr lang="en-US" sz="1000" dirty="0"/>
          </a:p>
          <a:p>
            <a:pPr marL="342900" indent="-342900">
              <a:spcAft>
                <a:spcPts val="600"/>
              </a:spcAft>
              <a:buSzPct val="100000"/>
              <a:buChar char="•"/>
            </a:pPr>
            <a:r>
              <a:rPr lang="en-US" sz="1000" dirty="0">
                <a:solidFill>
                  <a:srgbClr val="242528"/>
                </a:solidFill>
                <a:latin typeface="Poppins" pitchFamily="34" charset="0"/>
                <a:ea typeface="Poppins" pitchFamily="34" charset="-122"/>
                <a:cs typeface="Poppins" pitchFamily="34" charset="-120"/>
              </a:rPr>
              <a:t>Version changes break integrations</a:t>
            </a:r>
            <a:endParaRPr lang="en-US" sz="1000" dirty="0"/>
          </a:p>
          <a:p>
            <a:pPr marL="342900" indent="-342900">
              <a:spcAft>
                <a:spcPts val="600"/>
              </a:spcAft>
              <a:buSzPct val="100000"/>
              <a:buChar char="•"/>
            </a:pPr>
            <a:r>
              <a:rPr lang="en-US" sz="1000" dirty="0">
                <a:solidFill>
                  <a:srgbClr val="242528"/>
                </a:solidFill>
                <a:latin typeface="Poppins" pitchFamily="34" charset="0"/>
                <a:ea typeface="Poppins" pitchFamily="34" charset="-122"/>
                <a:cs typeface="Poppins" pitchFamily="34" charset="-120"/>
              </a:rPr>
              <a:t>Still no unified intelligence</a:t>
            </a:r>
            <a:endParaRPr lang="en-US" sz="1000" dirty="0"/>
          </a:p>
        </p:txBody>
      </p:sp>
      <p:sp>
        <p:nvSpPr>
          <p:cNvPr id="8" name="Shape 5"/>
          <p:cNvSpPr/>
          <p:nvPr/>
        </p:nvSpPr>
        <p:spPr>
          <a:xfrm>
            <a:off x="4754880" y="1097280"/>
            <a:ext cx="3931920" cy="3383280"/>
          </a:xfrm>
          <a:prstGeom prst="rect">
            <a:avLst/>
          </a:prstGeom>
          <a:solidFill>
            <a:srgbClr val="E8EEFF"/>
          </a:solidFill>
          <a:ln/>
        </p:spPr>
      </p:sp>
      <p:sp>
        <p:nvSpPr>
          <p:cNvPr id="9" name="Text 6"/>
          <p:cNvSpPr/>
          <p:nvPr/>
        </p:nvSpPr>
        <p:spPr>
          <a:xfrm>
            <a:off x="4937760" y="1188720"/>
            <a:ext cx="3566160" cy="365760"/>
          </a:xfrm>
          <a:prstGeom prst="rect">
            <a:avLst/>
          </a:prstGeom>
          <a:noFill/>
          <a:ln/>
        </p:spPr>
        <p:txBody>
          <a:bodyPr wrap="square" rtlCol="0" anchor="ctr"/>
          <a:lstStyle/>
          <a:p>
            <a:pPr indent="0" marL="0">
              <a:buNone/>
            </a:pPr>
            <a:r>
              <a:rPr lang="en-US" sz="1600" b="1" dirty="0">
                <a:solidFill>
                  <a:srgbClr val="293FE1"/>
                </a:solidFill>
                <a:latin typeface="Poppins" pitchFamily="34" charset="0"/>
                <a:ea typeface="Poppins" pitchFamily="34" charset="-122"/>
                <a:cs typeface="Poppins" pitchFamily="34" charset="-120"/>
              </a:rPr>
              <a:t>Connected Intelligence</a:t>
            </a:r>
            <a:endParaRPr lang="en-US" sz="1600" dirty="0"/>
          </a:p>
        </p:txBody>
      </p:sp>
      <p:sp>
        <p:nvSpPr>
          <p:cNvPr id="10" name="Text 7"/>
          <p:cNvSpPr/>
          <p:nvPr/>
        </p:nvSpPr>
        <p:spPr>
          <a:xfrm>
            <a:off x="4937760" y="1645920"/>
            <a:ext cx="3566160" cy="2560320"/>
          </a:xfrm>
          <a:prstGeom prst="rect">
            <a:avLst/>
          </a:prstGeom>
          <a:noFill/>
          <a:ln/>
        </p:spPr>
        <p:txBody>
          <a:bodyPr wrap="square" rtlCol="0" anchor="ctr"/>
          <a:lstStyle/>
          <a:p>
            <a:pPr marL="342900" indent="-342900">
              <a:spcAft>
                <a:spcPts val="600"/>
              </a:spcAft>
              <a:buSzPct val="100000"/>
              <a:buChar char="•"/>
            </a:pPr>
            <a:r>
              <a:rPr lang="en-US" sz="1000" dirty="0">
                <a:solidFill>
                  <a:srgbClr val="242528"/>
                </a:solidFill>
                <a:latin typeface="Poppins" pitchFamily="34" charset="0"/>
                <a:ea typeface="Poppins" pitchFamily="34" charset="-122"/>
                <a:cs typeface="Poppins" pitchFamily="34" charset="-120"/>
              </a:rPr>
              <a:t>One taxonomy across every solution</a:t>
            </a:r>
            <a:endParaRPr lang="en-US" sz="1000" dirty="0"/>
          </a:p>
          <a:p>
            <a:pPr marL="342900" indent="-342900">
              <a:spcAft>
                <a:spcPts val="600"/>
              </a:spcAft>
              <a:buSzPct val="100000"/>
              <a:buChar char="•"/>
            </a:pPr>
            <a:r>
              <a:rPr lang="en-US" sz="1000" dirty="0">
                <a:solidFill>
                  <a:srgbClr val="242528"/>
                </a:solidFill>
                <a:latin typeface="Poppins" pitchFamily="34" charset="0"/>
                <a:ea typeface="Poppins" pitchFamily="34" charset="-122"/>
                <a:cs typeface="Poppins" pitchFamily="34" charset="-120"/>
              </a:rPr>
              <a:t>One contract, one partner</a:t>
            </a:r>
            <a:endParaRPr lang="en-US" sz="1000" dirty="0"/>
          </a:p>
          <a:p>
            <a:pPr marL="342900" indent="-342900">
              <a:spcAft>
                <a:spcPts val="600"/>
              </a:spcAft>
              <a:buSzPct val="100000"/>
              <a:buChar char="•"/>
            </a:pPr>
            <a:r>
              <a:rPr lang="en-US" sz="1000" dirty="0">
                <a:solidFill>
                  <a:srgbClr val="242528"/>
                </a:solidFill>
                <a:latin typeface="Poppins" pitchFamily="34" charset="0"/>
                <a:ea typeface="Poppins" pitchFamily="34" charset="-122"/>
                <a:cs typeface="Poppins" pitchFamily="34" charset="-120"/>
              </a:rPr>
              <a:t>90-day deployment</a:t>
            </a:r>
            <a:endParaRPr lang="en-US" sz="1000" dirty="0"/>
          </a:p>
          <a:p>
            <a:pPr marL="342900" indent="-342900">
              <a:spcAft>
                <a:spcPts val="600"/>
              </a:spcAft>
              <a:buSzPct val="100000"/>
              <a:buChar char="•"/>
            </a:pPr>
            <a:r>
              <a:rPr lang="en-US" sz="1000" dirty="0">
                <a:solidFill>
                  <a:srgbClr val="242528"/>
                </a:solidFill>
                <a:latin typeface="Poppins" pitchFamily="34" charset="0"/>
                <a:ea typeface="Poppins" pitchFamily="34" charset="-122"/>
                <a:cs typeface="Poppins" pitchFamily="34" charset="-120"/>
              </a:rPr>
              <a:t>Full cross-pollination built in</a:t>
            </a:r>
            <a:endParaRPr lang="en-US" sz="1000" dirty="0"/>
          </a:p>
          <a:p>
            <a:pPr marL="342900" indent="-342900">
              <a:spcAft>
                <a:spcPts val="600"/>
              </a:spcAft>
              <a:buSzPct val="100000"/>
              <a:buChar char="•"/>
            </a:pPr>
            <a:r>
              <a:rPr lang="en-US" sz="1000" dirty="0">
                <a:solidFill>
                  <a:srgbClr val="242528"/>
                </a:solidFill>
                <a:latin typeface="Poppins" pitchFamily="34" charset="0"/>
                <a:ea typeface="Poppins" pitchFamily="34" charset="-122"/>
                <a:cs typeface="Poppins" pitchFamily="34" charset="-120"/>
              </a:rPr>
              <a:t>40 years of analyst-validated intelligence</a:t>
            </a:r>
            <a:endParaRPr lang="en-US" sz="1000" dirty="0"/>
          </a:p>
          <a:p>
            <a:pPr marL="342900" indent="-342900">
              <a:spcAft>
                <a:spcPts val="600"/>
              </a:spcAft>
              <a:buSzPct val="100000"/>
              <a:buChar char="•"/>
            </a:pPr>
            <a:r>
              <a:rPr lang="en-US" sz="1000" dirty="0">
                <a:solidFill>
                  <a:srgbClr val="242528"/>
                </a:solidFill>
                <a:latin typeface="Poppins" pitchFamily="34" charset="0"/>
                <a:ea typeface="Poppins" pitchFamily="34" charset="-122"/>
                <a:cs typeface="Poppins" pitchFamily="34" charset="-120"/>
              </a:rPr>
              <a:t>95% of global GDP covered</a:t>
            </a:r>
            <a:endParaRPr lang="en-US" sz="1000" dirty="0"/>
          </a:p>
        </p:txBody>
      </p:sp>
      <p:sp>
        <p:nvSpPr>
          <p:cNvPr id="11" name="Text 8"/>
          <p:cNvSpPr/>
          <p:nvPr/>
        </p:nvSpPr>
        <p:spPr>
          <a:xfrm>
            <a:off x="0" y="4709160"/>
            <a:ext cx="9144000" cy="320040"/>
          </a:xfrm>
          <a:prstGeom prst="rect">
            <a:avLst/>
          </a:prstGeom>
          <a:noFill/>
          <a:ln/>
        </p:spPr>
        <p:txBody>
          <a:bodyPr wrap="square" rtlCol="0" anchor="ctr"/>
          <a:lstStyle/>
          <a:p>
            <a:pPr algn="ctr" indent="0" marL="0">
              <a:buNone/>
            </a:pPr>
            <a:r>
              <a:rPr lang="en-US" sz="800" dirty="0">
                <a:solidFill>
                  <a:srgbClr val="676B75"/>
                </a:solidFill>
                <a:latin typeface="Poppins" pitchFamily="34" charset="0"/>
                <a:ea typeface="Poppins" pitchFamily="34" charset="-122"/>
                <a:cs typeface="Poppins" pitchFamily="34" charset="-120"/>
              </a:rPr>
              <a:t>globaldata.com</a:t>
            </a:r>
            <a:endParaRPr lang="en-US" sz="800" dirty="0"/>
          </a:p>
        </p:txBody>
      </p:sp>
      <p:sp>
        <p:nvSpPr>
          <p:cNvPr id="12" name="Text 9"/>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676B75"/>
                </a:solidFill>
                <a:latin typeface="Poppins" pitchFamily="34" charset="0"/>
                <a:ea typeface="Poppins" pitchFamily="34" charset="-122"/>
                <a:cs typeface="Poppins"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4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321040" y="228600"/>
            <a:ext cx="502920" cy="502920"/>
          </a:xfrm>
          <a:prstGeom prst="rect">
            <a:avLst/>
          </a:prstGeom>
        </p:spPr>
      </p:pic>
      <p:sp>
        <p:nvSpPr>
          <p:cNvPr id="3" name="Text 0"/>
          <p:cNvSpPr/>
          <p:nvPr/>
        </p:nvSpPr>
        <p:spPr>
          <a:xfrm>
            <a:off x="548640" y="731520"/>
            <a:ext cx="7315200" cy="1097280"/>
          </a:xfrm>
          <a:prstGeom prst="rect">
            <a:avLst/>
          </a:prstGeom>
          <a:noFill/>
          <a:ln/>
        </p:spPr>
        <p:txBody>
          <a:bodyPr wrap="square" rtlCol="0" anchor="ctr"/>
          <a:lstStyle/>
          <a:p>
            <a:pPr indent="0" marL="0">
              <a:buNone/>
            </a:pPr>
            <a:r>
              <a:rPr lang="en-US" sz="3200" b="1" dirty="0">
                <a:solidFill>
                  <a:srgbClr val="FFFFFF"/>
                </a:solidFill>
                <a:latin typeface="Poppins" pitchFamily="34" charset="0"/>
                <a:ea typeface="Poppins" pitchFamily="34" charset="-122"/>
                <a:cs typeface="Poppins" pitchFamily="34" charset="-120"/>
              </a:rPr>
              <a:t>Ready to Connect</a:t>
            </a:r>
            <a:endParaRPr lang="en-US" sz="3200" dirty="0"/>
          </a:p>
          <a:p>
            <a:pPr indent="0" marL="0">
              <a:buNone/>
            </a:pPr>
            <a:r>
              <a:rPr lang="en-US" sz="3200" b="1" dirty="0">
                <a:solidFill>
                  <a:srgbClr val="FFFFFF"/>
                </a:solidFill>
                <a:latin typeface="Poppins" pitchFamily="34" charset="0"/>
                <a:ea typeface="Poppins" pitchFamily="34" charset="-122"/>
                <a:cs typeface="Poppins" pitchFamily="34" charset="-120"/>
              </a:rPr>
              <a:t>Your Intelligence?</a:t>
            </a:r>
            <a:endParaRPr lang="en-US" sz="3200" dirty="0"/>
          </a:p>
        </p:txBody>
      </p:sp>
      <p:sp>
        <p:nvSpPr>
          <p:cNvPr id="4" name="Shape 1"/>
          <p:cNvSpPr/>
          <p:nvPr/>
        </p:nvSpPr>
        <p:spPr>
          <a:xfrm>
            <a:off x="548640" y="1920240"/>
            <a:ext cx="1097280" cy="36576"/>
          </a:xfrm>
          <a:prstGeom prst="rect">
            <a:avLst/>
          </a:prstGeom>
          <a:solidFill>
            <a:srgbClr val="293FE1"/>
          </a:solidFill>
          <a:ln/>
        </p:spPr>
      </p:sp>
      <p:sp>
        <p:nvSpPr>
          <p:cNvPr id="5" name="Shape 2"/>
          <p:cNvSpPr/>
          <p:nvPr/>
        </p:nvSpPr>
        <p:spPr>
          <a:xfrm>
            <a:off x="548640" y="2194560"/>
            <a:ext cx="5029200" cy="2011680"/>
          </a:xfrm>
          <a:prstGeom prst="rect">
            <a:avLst/>
          </a:prstGeom>
          <a:solidFill>
            <a:srgbClr val="2A3145"/>
          </a:solidFill>
          <a:ln/>
        </p:spPr>
      </p:sp>
      <p:sp>
        <p:nvSpPr>
          <p:cNvPr id="6" name="Text 3"/>
          <p:cNvSpPr/>
          <p:nvPr/>
        </p:nvSpPr>
        <p:spPr>
          <a:xfrm>
            <a:off x="731520" y="2286000"/>
            <a:ext cx="4663440" cy="365760"/>
          </a:xfrm>
          <a:prstGeom prst="rect">
            <a:avLst/>
          </a:prstGeom>
          <a:noFill/>
          <a:ln/>
        </p:spPr>
        <p:txBody>
          <a:bodyPr wrap="square" rtlCol="0" anchor="ctr"/>
          <a:lstStyle/>
          <a:p>
            <a:pPr indent="0" marL="0">
              <a:buNone/>
            </a:pPr>
            <a:r>
              <a:rPr lang="en-US" sz="1600" b="1" dirty="0">
                <a:solidFill>
                  <a:srgbClr val="293FE1"/>
                </a:solidFill>
                <a:latin typeface="Poppins" pitchFamily="34" charset="0"/>
                <a:ea typeface="Poppins" pitchFamily="34" charset="-122"/>
                <a:cs typeface="Poppins" pitchFamily="34" charset="-120"/>
              </a:rPr>
              <a:t>Your Free Intelligence Maturity Assessment</a:t>
            </a:r>
            <a:endParaRPr lang="en-US" sz="1600" dirty="0"/>
          </a:p>
        </p:txBody>
      </p:sp>
      <p:sp>
        <p:nvSpPr>
          <p:cNvPr id="7" name="Text 4"/>
          <p:cNvSpPr/>
          <p:nvPr/>
        </p:nvSpPr>
        <p:spPr>
          <a:xfrm>
            <a:off x="731520" y="2743200"/>
            <a:ext cx="4663440" cy="1280160"/>
          </a:xfrm>
          <a:prstGeom prst="rect">
            <a:avLst/>
          </a:prstGeom>
          <a:noFill/>
          <a:ln/>
        </p:spPr>
        <p:txBody>
          <a:bodyPr wrap="square" rtlCol="0" anchor="ctr"/>
          <a:lstStyle/>
          <a:p>
            <a:pPr marL="342900" indent="-342900">
              <a:spcAft>
                <a:spcPts val="400"/>
              </a:spcAft>
              <a:buSzPct val="100000"/>
              <a:buChar char="•"/>
            </a:pPr>
            <a:r>
              <a:rPr lang="en-US" sz="1100" dirty="0">
                <a:solidFill>
                  <a:srgbClr val="D1D5D8"/>
                </a:solidFill>
                <a:latin typeface="Poppins" pitchFamily="34" charset="0"/>
                <a:ea typeface="Poppins" pitchFamily="34" charset="-122"/>
                <a:cs typeface="Poppins" pitchFamily="34" charset="-120"/>
              </a:rPr>
              <a:t>Map your current intelligence landscape</a:t>
            </a:r>
            <a:endParaRPr lang="en-US" sz="1100" dirty="0"/>
          </a:p>
          <a:p>
            <a:pPr marL="342900" indent="-342900">
              <a:spcAft>
                <a:spcPts val="400"/>
              </a:spcAft>
              <a:buSzPct val="100000"/>
              <a:buChar char="•"/>
            </a:pPr>
            <a:r>
              <a:rPr lang="en-US" sz="1100" dirty="0">
                <a:solidFill>
                  <a:srgbClr val="D1D5D8"/>
                </a:solidFill>
                <a:latin typeface="Poppins" pitchFamily="34" charset="0"/>
                <a:ea typeface="Poppins" pitchFamily="34" charset="-122"/>
                <a:cs typeface="Poppins" pitchFamily="34" charset="-120"/>
              </a:rPr>
              <a:t>Identify where you sit on the maturity curve</a:t>
            </a:r>
            <a:endParaRPr lang="en-US" sz="1100" dirty="0"/>
          </a:p>
          <a:p>
            <a:pPr marL="342900" indent="-342900">
              <a:spcAft>
                <a:spcPts val="400"/>
              </a:spcAft>
              <a:buSzPct val="100000"/>
              <a:buChar char="•"/>
            </a:pPr>
            <a:r>
              <a:rPr lang="en-US" sz="1100" dirty="0">
                <a:solidFill>
                  <a:srgbClr val="D1D5D8"/>
                </a:solidFill>
                <a:latin typeface="Poppins" pitchFamily="34" charset="0"/>
                <a:ea typeface="Poppins" pitchFamily="34" charset="-122"/>
                <a:cs typeface="Poppins" pitchFamily="34" charset="-120"/>
              </a:rPr>
              <a:t>Pinpoint quick wins and high-impact opportunities</a:t>
            </a:r>
            <a:endParaRPr lang="en-US" sz="1100" dirty="0"/>
          </a:p>
          <a:p>
            <a:pPr marL="342900" indent="-342900">
              <a:spcAft>
                <a:spcPts val="400"/>
              </a:spcAft>
              <a:buSzPct val="100000"/>
              <a:buChar char="•"/>
            </a:pPr>
            <a:r>
              <a:rPr lang="en-US" sz="1100" dirty="0">
                <a:solidFill>
                  <a:srgbClr val="D1D5D8"/>
                </a:solidFill>
                <a:latin typeface="Poppins" pitchFamily="34" charset="0"/>
                <a:ea typeface="Poppins" pitchFamily="34" charset="-122"/>
                <a:cs typeface="Poppins" pitchFamily="34" charset="-120"/>
              </a:rPr>
              <a:t>See what Connected Intelligence looks like for your team</a:t>
            </a:r>
            <a:endParaRPr lang="en-US" sz="1100" dirty="0"/>
          </a:p>
        </p:txBody>
      </p:sp>
      <p:sp>
        <p:nvSpPr>
          <p:cNvPr id="8" name="Shape 5"/>
          <p:cNvSpPr/>
          <p:nvPr/>
        </p:nvSpPr>
        <p:spPr>
          <a:xfrm>
            <a:off x="6217920" y="2194560"/>
            <a:ext cx="2560320" cy="2011680"/>
          </a:xfrm>
          <a:prstGeom prst="rect">
            <a:avLst/>
          </a:prstGeom>
          <a:solidFill>
            <a:srgbClr val="293FE1"/>
          </a:solidFill>
          <a:ln/>
        </p:spPr>
      </p:sp>
      <p:sp>
        <p:nvSpPr>
          <p:cNvPr id="9" name="Text 6"/>
          <p:cNvSpPr/>
          <p:nvPr/>
        </p:nvSpPr>
        <p:spPr>
          <a:xfrm>
            <a:off x="6217920" y="2377440"/>
            <a:ext cx="2560320" cy="640080"/>
          </a:xfrm>
          <a:prstGeom prst="rect">
            <a:avLst/>
          </a:prstGeom>
          <a:noFill/>
          <a:ln/>
        </p:spPr>
        <p:txBody>
          <a:bodyPr wrap="square" rtlCol="0" anchor="ctr"/>
          <a:lstStyle/>
          <a:p>
            <a:pPr algn="ctr" indent="0" marL="0">
              <a:buNone/>
            </a:pPr>
            <a:r>
              <a:rPr lang="en-US" sz="3600" b="1" dirty="0">
                <a:solidFill>
                  <a:srgbClr val="FFFFFF"/>
                </a:solidFill>
                <a:latin typeface="Poppins" pitchFamily="34" charset="0"/>
                <a:ea typeface="Poppins" pitchFamily="34" charset="-122"/>
                <a:cs typeface="Poppins" pitchFamily="34" charset="-120"/>
              </a:rPr>
              <a:t>8 of 10</a:t>
            </a:r>
            <a:endParaRPr lang="en-US" sz="3600" dirty="0"/>
          </a:p>
        </p:txBody>
      </p:sp>
      <p:sp>
        <p:nvSpPr>
          <p:cNvPr id="10" name="Text 7"/>
          <p:cNvSpPr/>
          <p:nvPr/>
        </p:nvSpPr>
        <p:spPr>
          <a:xfrm>
            <a:off x="6217920" y="3017520"/>
            <a:ext cx="2560320" cy="822960"/>
          </a:xfrm>
          <a:prstGeom prst="rect">
            <a:avLst/>
          </a:prstGeom>
          <a:noFill/>
          <a:ln/>
        </p:spPr>
        <p:txBody>
          <a:bodyPr wrap="square" rtlCol="0" anchor="ctr"/>
          <a:lstStyle/>
          <a:p>
            <a:pPr algn="ctr" indent="0" marL="0">
              <a:buNone/>
            </a:pPr>
            <a:r>
              <a:rPr lang="en-US" sz="1100" dirty="0">
                <a:solidFill>
                  <a:srgbClr val="FFFFFF"/>
                </a:solidFill>
                <a:latin typeface="Poppins" pitchFamily="34" charset="0"/>
                <a:ea typeface="Poppins" pitchFamily="34" charset="-122"/>
                <a:cs typeface="Poppins" pitchFamily="34" charset="-120"/>
              </a:rPr>
              <a:t>of the world's largest</a:t>
            </a:r>
            <a:endParaRPr lang="en-US" sz="1100" dirty="0"/>
          </a:p>
          <a:p>
            <a:pPr algn="ctr" indent="0" marL="0">
              <a:buNone/>
            </a:pPr>
            <a:r>
              <a:rPr lang="en-US" sz="1100" dirty="0">
                <a:solidFill>
                  <a:srgbClr val="FFFFFF"/>
                </a:solidFill>
                <a:latin typeface="Poppins" pitchFamily="34" charset="0"/>
                <a:ea typeface="Poppins" pitchFamily="34" charset="-122"/>
                <a:cs typeface="Poppins" pitchFamily="34" charset="-120"/>
              </a:rPr>
              <a:t>FMCG companies</a:t>
            </a:r>
            <a:endParaRPr lang="en-US" sz="1100" dirty="0"/>
          </a:p>
          <a:p>
            <a:pPr algn="ctr" indent="0" marL="0">
              <a:buNone/>
            </a:pPr>
            <a:r>
              <a:rPr lang="en-US" sz="1100" dirty="0">
                <a:solidFill>
                  <a:srgbClr val="FFFFFF"/>
                </a:solidFill>
                <a:latin typeface="Poppins" pitchFamily="34" charset="0"/>
                <a:ea typeface="Poppins" pitchFamily="34" charset="-122"/>
                <a:cs typeface="Poppins" pitchFamily="34" charset="-120"/>
              </a:rPr>
              <a:t>trust GlobalData</a:t>
            </a:r>
            <a:endParaRPr lang="en-US" sz="1100" dirty="0"/>
          </a:p>
        </p:txBody>
      </p:sp>
      <p:sp>
        <p:nvSpPr>
          <p:cNvPr id="11" name="Text 8"/>
          <p:cNvSpPr/>
          <p:nvPr/>
        </p:nvSpPr>
        <p:spPr>
          <a:xfrm>
            <a:off x="548640" y="4297680"/>
            <a:ext cx="3657600" cy="365760"/>
          </a:xfrm>
          <a:prstGeom prst="rect">
            <a:avLst/>
          </a:prstGeom>
          <a:noFill/>
          <a:ln/>
        </p:spPr>
        <p:txBody>
          <a:bodyPr wrap="square" rtlCol="0" anchor="ctr"/>
          <a:lstStyle/>
          <a:p>
            <a:pPr indent="0" marL="0">
              <a:buNone/>
            </a:pPr>
            <a:r>
              <a:rPr lang="en-US" sz="1400" i="1" dirty="0">
                <a:solidFill>
                  <a:srgbClr val="FFFFFF"/>
                </a:solidFill>
                <a:latin typeface="Poppins" pitchFamily="34" charset="0"/>
                <a:ea typeface="Poppins" pitchFamily="34" charset="-122"/>
                <a:cs typeface="Poppins" pitchFamily="34" charset="-120"/>
              </a:rPr>
              <a:t>No commitment. Just clarity.</a:t>
            </a:r>
            <a:endParaRPr lang="en-US" sz="1400" dirty="0"/>
          </a:p>
        </p:txBody>
      </p:sp>
      <p:sp>
        <p:nvSpPr>
          <p:cNvPr id="12" name="Text 9"/>
          <p:cNvSpPr/>
          <p:nvPr/>
        </p:nvSpPr>
        <p:spPr>
          <a:xfrm>
            <a:off x="0" y="4709160"/>
            <a:ext cx="9144000" cy="320040"/>
          </a:xfrm>
          <a:prstGeom prst="rect">
            <a:avLst/>
          </a:prstGeom>
          <a:noFill/>
          <a:ln/>
        </p:spPr>
        <p:txBody>
          <a:bodyPr wrap="square" rtlCol="0" anchor="ctr"/>
          <a:lstStyle/>
          <a:p>
            <a:pPr algn="ctr" indent="0" marL="0">
              <a:buNone/>
            </a:pPr>
            <a:r>
              <a:rPr lang="en-US" sz="800" dirty="0">
                <a:solidFill>
                  <a:srgbClr val="676B75"/>
                </a:solidFill>
                <a:latin typeface="Poppins" pitchFamily="34" charset="0"/>
                <a:ea typeface="Poppins" pitchFamily="34" charset="-122"/>
                <a:cs typeface="Poppins" pitchFamily="34" charset="-120"/>
              </a:rPr>
              <a:t>globaldata.com</a:t>
            </a:r>
            <a:endParaRPr lang="en-US" sz="800" dirty="0"/>
          </a:p>
        </p:txBody>
      </p:sp>
      <p:sp>
        <p:nvSpPr>
          <p:cNvPr id="13" name="Text 10"/>
          <p:cNvSpPr/>
          <p:nvPr/>
        </p:nvSpPr>
        <p:spPr>
          <a:xfrm>
            <a:off x="8229600" y="4709160"/>
            <a:ext cx="731520" cy="320040"/>
          </a:xfrm>
          <a:prstGeom prst="rect">
            <a:avLst/>
          </a:prstGeom>
          <a:noFill/>
          <a:ln/>
        </p:spPr>
        <p:txBody>
          <a:bodyPr wrap="square" rtlCol="0" anchor="ctr"/>
          <a:lstStyle/>
          <a:p>
            <a:pPr algn="r" indent="0" marL="0">
              <a:buNone/>
            </a:pPr>
            <a:r>
              <a:rPr lang="en-US" sz="800" dirty="0">
                <a:solidFill>
                  <a:srgbClr val="676B75"/>
                </a:solidFill>
                <a:latin typeface="Poppins" pitchFamily="34" charset="0"/>
                <a:ea typeface="Poppins" pitchFamily="34" charset="-122"/>
                <a:cs typeface="Poppins" pitchFamily="34" charset="-120"/>
              </a:rPr>
              <a:t>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Connected Intelligence for Consumer Brands</dc:title>
  <dc:subject>PptxGenJS Presentation</dc:subject>
  <dc:creator>GlobalData</dc:creator>
  <cp:lastModifiedBy>GlobalData</cp:lastModifiedBy>
  <cp:revision>1</cp:revision>
  <dcterms:created xsi:type="dcterms:W3CDTF">2026-04-16T10:54:56Z</dcterms:created>
  <dcterms:modified xsi:type="dcterms:W3CDTF">2026-04-16T10:54:56Z</dcterms:modified>
</cp:coreProperties>
</file>